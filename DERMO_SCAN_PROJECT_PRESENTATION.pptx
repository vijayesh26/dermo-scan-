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t_universit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2926080" cy="1554221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645920"/>
            <a:ext cx="3291840" cy="347472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OFFLINE S-T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DermoScan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  <a:latin typeface="Arial"/>
              </a:defRPr>
            </a:pPr>
            <a:r>
              <a:t>AI-Powered Cutaneous Triage &amp; Morphology Workstation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 intelligent clinical decision support platform designed to bridge primary care dermatological triage with client-side canvas downsampling, 4-quadrant morphology decomposition, and ICD-10-CM harmonization.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6035040" cy="164592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Student Developer: Bhumireddy.Vijayesh Vardhan Reddy (Roll No: 72312924)</a:t>
            </a:r>
          </a:p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Program: B.Tech CSE (AI &amp; DS) | Department of Computer Science &amp; Engineering</a:t>
            </a:r>
          </a:p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Institution: CT UNIVERSITY, Ludhiana (Punjab), India</a:t>
            </a:r>
          </a:p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Internship Partner: DATAVALLEY Pvt. Ltd. (in collaboration with APSCHE)</a:t>
            </a:r>
          </a:p>
          <a:p>
            <a:pPr>
              <a:defRPr sz="950">
                <a:solidFill>
                  <a:srgbClr val="0EA5E9"/>
                </a:solidFill>
                <a:latin typeface="Calibri"/>
              </a:defRPr>
            </a:pPr>
            <a:r>
              <a:t>Supervisors: Shaik. Arshad (Data Valley) | Er. Rohit Kumar (CT University)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731520"/>
            <a:ext cx="4297680" cy="557784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0058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DEPLOYED CLINICAL PLATFORM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463040"/>
            <a:ext cx="3749039" cy="804672"/>
          </a:xfrm>
          <a:prstGeom prst="roundRect">
            <a:avLst/>
          </a:prstGeom>
          <a:solidFill>
            <a:srgbClr val="0E1E36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50" b="1">
                <a:solidFill>
                  <a:srgbClr val="94A3B8"/>
                </a:solidFill>
                <a:latin typeface="Arial"/>
              </a:defRPr>
            </a:pPr>
            <a:r>
              <a:t>Live Vercel Application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https://dermo-scan-nesn.vercel.app/</a:t>
            </a:r>
          </a:p>
          <a:p>
            <a:pPr>
              <a:defRPr sz="850">
                <a:solidFill>
                  <a:srgbClr val="0EA5E9"/>
                </a:solidFill>
                <a:latin typeface="Calibri"/>
              </a:defRPr>
            </a:pPr>
            <a:r>
              <a:t>Instant Global Edge Deployment on Vercel CDN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2359152"/>
            <a:ext cx="3749039" cy="804672"/>
          </a:xfrm>
          <a:prstGeom prst="roundRect">
            <a:avLst/>
          </a:prstGeom>
          <a:solidFill>
            <a:srgbClr val="0E1E36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50" b="1">
                <a:solidFill>
                  <a:srgbClr val="94A3B8"/>
                </a:solidFill>
                <a:latin typeface="Arial"/>
              </a:defRPr>
            </a:pPr>
            <a:r>
              <a:t>GitHub Repository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https://github.com/vijayesh26/Dermo-Scan-</a:t>
            </a:r>
          </a:p>
          <a:p>
            <a:pPr>
              <a:defRPr sz="850">
                <a:solidFill>
                  <a:srgbClr val="0EA5E9"/>
                </a:solidFill>
                <a:latin typeface="Calibri"/>
              </a:defRPr>
            </a:pPr>
            <a:r>
              <a:t>Complete React 18 &amp; TypeScript 5.7 Codebase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255264"/>
            <a:ext cx="3749039" cy="804672"/>
          </a:xfrm>
          <a:prstGeom prst="roundRect">
            <a:avLst/>
          </a:prstGeom>
          <a:solidFill>
            <a:srgbClr val="0E1E36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50" b="1">
                <a:solidFill>
                  <a:srgbClr val="94A3B8"/>
                </a:solidFill>
                <a:latin typeface="Arial"/>
              </a:defRPr>
            </a:pPr>
            <a:r>
              <a:t>Clinical Palette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Single-Color #0F6FBF</a:t>
            </a:r>
          </a:p>
          <a:p>
            <a:pPr>
              <a:defRPr sz="850">
                <a:solidFill>
                  <a:srgbClr val="0EA5E9"/>
                </a:solidFill>
                <a:latin typeface="Calibri"/>
              </a:defRPr>
            </a:pPr>
            <a:r>
              <a:t>WCAG 2.1 AAA Compliant Non-Alarmist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151376"/>
            <a:ext cx="3749039" cy="804672"/>
          </a:xfrm>
          <a:prstGeom prst="roundRect">
            <a:avLst/>
          </a:prstGeom>
          <a:solidFill>
            <a:srgbClr val="0E1E36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50" b="1">
                <a:solidFill>
                  <a:srgbClr val="94A3B8"/>
                </a:solidFill>
                <a:latin typeface="Arial"/>
              </a:defRPr>
            </a:pPr>
            <a:r>
              <a:t>Diagnostic Ontology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ICD-10-CM Standardized</a:t>
            </a:r>
          </a:p>
          <a:p>
            <a:pPr>
              <a:defRPr sz="850">
                <a:solidFill>
                  <a:srgbClr val="0EA5E9"/>
                </a:solidFill>
                <a:latin typeface="Calibri"/>
              </a:defRPr>
            </a:pPr>
            <a:r>
              <a:t>L40.0, L20.9, B35.9, L71.0, L03.9 Triage Crosswalk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5047488"/>
            <a:ext cx="3749039" cy="804672"/>
          </a:xfrm>
          <a:prstGeom prst="roundRect">
            <a:avLst/>
          </a:prstGeom>
          <a:solidFill>
            <a:srgbClr val="0E1E36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50" b="1">
                <a:solidFill>
                  <a:srgbClr val="94A3B8"/>
                </a:solidFill>
                <a:latin typeface="Arial"/>
              </a:defRPr>
            </a:pPr>
            <a:r>
              <a:t>Privacy Architecture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Zero-Telemetry Local</a:t>
            </a:r>
          </a:p>
          <a:p>
            <a:pPr>
              <a:defRPr sz="850">
                <a:solidFill>
                  <a:srgbClr val="0EA5E9"/>
                </a:solidFill>
                <a:latin typeface="Calibri"/>
              </a:defRPr>
            </a:pPr>
            <a:r>
              <a:t>In-Memory Image Processing &amp; Local Session 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Problem: The Cutaneous Triage Bottleneck in Primary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General practitioners manage over 30% of skin complaints, yet face critical diagnostic and triage barriers.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6FB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Specialist Access Gap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50" b="1">
                <a:solidFill>
                  <a:srgbClr val="0F6FBF"/>
                </a:solidFill>
                <a:latin typeface="Arial"/>
              </a:defRPr>
            </a:pPr>
            <a:r>
              <a:t>35 to 84 Days Delay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National dermatologist waitlists lead to unchecked lesion progression, delayed malignant detection, and clinical deterioration.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39312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6FB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Visual Ambiguity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50" b="1">
                <a:solidFill>
                  <a:srgbClr val="0F6FBF"/>
                </a:solidFill>
                <a:latin typeface="Arial"/>
              </a:defRPr>
            </a:pPr>
            <a:r>
              <a:t>Morphological Overlap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Inflammatory, fungal, and neoplastic dermatoses share identical erythema, scaling, and papular configurations in early stages.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83080"/>
            <a:ext cx="2542032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6FB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Misdiagnosis Cascade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50" b="1">
                <a:solidFill>
                  <a:srgbClr val="0F6FBF"/>
                </a:solidFill>
                <a:latin typeface="Arial"/>
              </a:defRPr>
            </a:pPr>
            <a:r>
              <a:t>Inappropriate Steroids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Prescribing topical corticosteroids to fungal infections (tinea incognito) suppresses local immunity, worsening deep tissue invasion.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783080"/>
            <a:ext cx="2542032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6FB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Phototype Disparity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50" b="1">
                <a:solidFill>
                  <a:srgbClr val="0F6FBF"/>
                </a:solidFill>
                <a:latin typeface="Arial"/>
              </a:defRPr>
            </a:pPr>
            <a:r>
              <a:t>Fitzpatrick IV–VI Bias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Erythema is masked in richly pigmented skin tones, causing higher rates of delayed diagnosis for psoriasis and eczema in POC patients.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06440"/>
            <a:ext cx="10728655" cy="594360"/>
          </a:xfrm>
          <a:prstGeom prst="roundRect">
            <a:avLst/>
          </a:prstGeom>
          <a:solidFill>
            <a:srgbClr val="F1F5F9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Clinical Consequence: High primary care diagnostic variance, inappropriate steroid prescriptions, and overloaded secondary hospitals.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Solution: The DermoScan AI Clinical Workstation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A deterministic, multi-factor decision support system standardizing cutaneous triage at the point of care.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38404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11680"/>
            <a:ext cx="594360" cy="594360"/>
          </a:xfrm>
          <a:prstGeom prst="ellipse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Intake &amp; Downsampling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00" b="1">
                <a:solidFill>
                  <a:srgbClr val="0F6FBF"/>
                </a:solidFill>
                <a:latin typeface="Arial"/>
              </a:defRPr>
            </a:pPr>
            <a:r>
              <a:t>Specimen Processing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High-resolution patient imagery is ingested client-side and scaled via HTML5 Canvas (1024px constraint) to preserve cellular micro-texture without server payload overload.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38404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11680"/>
            <a:ext cx="594360" cy="594360"/>
          </a:xfrm>
          <a:prstGeom prst="ellipse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Multi-Factor Metadata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00" b="1">
                <a:solidFill>
                  <a:srgbClr val="0F6FBF"/>
                </a:solidFill>
                <a:latin typeface="Arial"/>
              </a:defRPr>
            </a:pPr>
            <a:r>
              <a:t>Clinical Context Enriched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Synthesizes visual cues with 16 anatomical body locations, chronicity (&lt;1w to 3m+), and sensation markers (pruritus, burning, tenderness) for holistic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83080"/>
            <a:ext cx="2542032" cy="38404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4224" y="2011680"/>
            <a:ext cx="594360" cy="594360"/>
          </a:xfrm>
          <a:prstGeom prst="ellipse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Dual-Tier Inference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00" b="1">
                <a:solidFill>
                  <a:srgbClr val="0F6FBF"/>
                </a:solidFill>
                <a:latin typeface="Arial"/>
              </a:defRPr>
            </a:pPr>
            <a:r>
              <a:t>Multimodal Vision AI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Gemini multimodal visual reasoning performs zero-shot feature extraction coupled with deterministic clinical heuristic fallbacks for 100% offline triage continuity.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783080"/>
            <a:ext cx="2542032" cy="38404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89136" y="2011680"/>
            <a:ext cx="594360" cy="594360"/>
          </a:xfrm>
          <a:prstGeom prst="ellipse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Standardized Dossier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000" b="1">
                <a:solidFill>
                  <a:srgbClr val="0F6FBF"/>
                </a:solidFill>
                <a:latin typeface="Arial"/>
              </a:defRPr>
            </a:pPr>
            <a:r>
              <a:t>ICD-10 Harmonization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Generates primary classifications, single-color #0F6FBF confidence meter, 4-quadrant morphology metrics, and evidence-based clinical protocols with explicit contraindications.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06440"/>
            <a:ext cx="10728655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Clinical Outcome: Objective, repeatable cutaneous triage that assists primary care clinicians without replacing specialist acumen.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Three Architectural Pillars of the DermoScan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Structured separation of ingestion, morphology inference, and compliance safeguards.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429000" cy="4617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1920240"/>
            <a:ext cx="3099816" cy="7772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Intake &amp; Optical Preprocessor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Client-Side Intake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Drag-and-drop ingestion of JPG, PNG, and WebP specimens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Canvas 2D constrained scaling (max 1024px) for low latency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16 Standardized Anatomical Zones (Scalp, Extensor, Trunk, Acral)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Chronicity assessment (&lt;1 week to &gt;3 months progression)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Multi-select sensation chips (Itchy, Burning, Painful, Tender)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Fitzpatrick phototype calibration awareness (Types I–VI)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783080"/>
            <a:ext cx="3429000" cy="4617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4568" y="1920240"/>
            <a:ext cx="3099816" cy="7772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Morphology &amp; Differential Engine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Multi-Factor Reasoning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283464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Primary pattern matching aligned with ICD-10-CM standards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Single-color #0F6FBF confidence meter (0% to 100%)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4-Quadrant Morphological Matrix (Lesion, Color, Border, Pattern)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Ranked differential hierarchy with High/Moderate likelihoods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Evidence-based clinical protocol guidance &amp; moisturizing steps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Explicit contraindications to prevent steroid exacerbation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783080"/>
            <a:ext cx="3429000" cy="4617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3024" y="1920240"/>
            <a:ext cx="3099816" cy="7772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Audit, Privacy &amp; Safety Protocols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Clinical Compliance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83464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Zero-telemetry edge pipeline: Zero image persistence on cloud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Local session audit archive for immediate patient review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One-click retrospective dossier inspection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Non-skin artifact rejection gatekeeper (rejects blurred/objects)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Emergency red-flag escalation for cellulitis &amp; suspected melanoma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  <a:latin typeface="Calibri"/>
              </a:defRPr>
            </a:pPr>
            <a:r>
              <a:t>•  Physician-in-the-loop validation requirement on all dossiers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Live Intake Workstation: Optical Ingestion &amp; Clinical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Clean specimen ingestion interface capturing clinical history prior to neural inference.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6858000" cy="41148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a_1793280759910_fa2901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475569"/>
                </a:solidFill>
                <a:latin typeface="Arial"/>
              </a:defRPr>
            </a:pPr>
            <a:r>
              <a:t>Figure 1: Live Specimen Intake Console deployed at https://dermo-scan-nesn.vercel.app/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78308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Client-Side Optical Ingestion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Instant drag-and-drop specimen dropzone with real-time preview and client-side HTML5 canvas downsampling.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16 Anatomical Body Zones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Selectable clinical locations (Extensor, Flexural, Scalp, Trunk, Palmoplantar) without misleading silhouettes.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88620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Chronicity &amp; Sensation Markers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Multi-factor intake recording symptom duration (&lt;1w to 3m+) and tactile patient sensations (pruritus, burning, pain).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493776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Deterministic Scan Trigger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One-click 'Run Diagnostic Scan' initiates optical downsampling, inference dispatch, and dossier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Live Diagnostic Dossier: AI Inference &amp; Clinical Morphology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Diagnostic dossier output demonstrating 89% confidence Psoriasis Vulgaris classification.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6858000" cy="41148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a_1793280759965_157a41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475569"/>
                </a:solidFill>
                <a:latin typeface="Arial"/>
              </a:defRPr>
            </a:pPr>
            <a:r>
              <a:t>Figure 2: Live Diagnostic Dossier showing Psoriasis Vulgaris (L40.0) with 89% AI Confidence &amp; 4-Quadrant Matrix.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78308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Primary Pattern &amp; ICD-10 Code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Psoriasis Vulgaris (ICD-10 L40.0) identified with high-fidelity visual matching to pathognomonic salmon-pink plaques.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Single-Color #0F6FBF Progress Meter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89% AI Pattern Confidence rendered in clinical calm blue, strictly avoiding stress-inducing multi-color alarms.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88620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4-Quadrant Morphological Matrix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Structured decomposition of Primary Lesion, Coloration, Border Definition, and Distribution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4937760"/>
            <a:ext cx="3639312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Evidence-Based Self-Care &amp; Alerts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Recommends emollient application and salicylic acid; warns against topical steroid misuse prior to KOH scrape.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4-Quadrant Morphology: Interpretability Over Black-Box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Decomposing cutaneous observations into the four foundational pillars of clinical dermatology.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947672"/>
            <a:ext cx="1188720" cy="292608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QUADRANT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1343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Primary Lesion &amp; Morphology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alibri"/>
              </a:defRPr>
            </a:pPr>
            <a:r>
              <a:t>Identifies foundational skin changes: Well-demarcated plaques, papules, macules, vesicles, or bullae.</a:t>
            </a:r>
          </a:p>
          <a:p>
            <a:pPr>
              <a:spcBef>
                <a:spcPts val="300"/>
              </a:spcBef>
              <a:defRPr sz="950">
                <a:solidFill>
                  <a:srgbClr val="0F6FBF"/>
                </a:solidFill>
                <a:latin typeface="Calibri"/>
              </a:defRPr>
            </a:pPr>
            <a:r>
              <a:t>•  Clinical Utility: Distinguishes hyperkeratotic epidermal hyperplasia (psoriasis) from transient urticarial wheals or vesicular eruptions.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120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947672"/>
            <a:ext cx="1188720" cy="292608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QUADRANT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1343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Coloration &amp; Vascularity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alibri"/>
              </a:defRPr>
            </a:pPr>
            <a:r>
              <a:t>Evaluates lesion hue: Salmon-pink, violaceous, hyperpigmented brown, or pearly translucent white.</a:t>
            </a:r>
          </a:p>
          <a:p>
            <a:pPr>
              <a:spcBef>
                <a:spcPts val="300"/>
              </a:spcBef>
              <a:defRPr sz="950">
                <a:solidFill>
                  <a:srgbClr val="0F6FBF"/>
                </a:solidFill>
                <a:latin typeface="Calibri"/>
              </a:defRPr>
            </a:pPr>
            <a:r>
              <a:t>•  Clinical Utility: Critical for detecting active micro-vascularity and accounting for erythema masking in darker Fitzpatrick phototypes.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120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4279392"/>
            <a:ext cx="1188720" cy="292608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QUADRANT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4515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Border Architecture &amp; Margin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alibri"/>
              </a:defRPr>
            </a:pPr>
            <a:r>
              <a:t>Analyzes margin definition: Abrupt discrete borders versus diffuse, ill-defined tapering margins.</a:t>
            </a:r>
          </a:p>
          <a:p>
            <a:pPr>
              <a:spcBef>
                <a:spcPts val="300"/>
              </a:spcBef>
              <a:defRPr sz="950">
                <a:solidFill>
                  <a:srgbClr val="0F6FBF"/>
                </a:solidFill>
                <a:latin typeface="Calibri"/>
              </a:defRPr>
            </a:pPr>
            <a:r>
              <a:t>•  Clinical Utility: High-specificity discriminator between plaque psoriasis (sharp borders) and atopic eczema (diffuse ill-defined borders).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52120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4279392"/>
            <a:ext cx="1188720" cy="292608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QUADRANT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64515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Distribution &amp; Keratinization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alibri"/>
              </a:defRPr>
            </a:pPr>
            <a:r>
              <a:t>Assesses anatomical pattern: Extensor surfaces (knees/elbows), flexural folds, palmoplantar, or seborrheic.</a:t>
            </a:r>
          </a:p>
          <a:p>
            <a:pPr>
              <a:spcBef>
                <a:spcPts val="300"/>
              </a:spcBef>
              <a:defRPr sz="950">
                <a:solidFill>
                  <a:srgbClr val="0F6FBF"/>
                </a:solidFill>
                <a:latin typeface="Calibri"/>
              </a:defRPr>
            </a:pPr>
            <a:r>
              <a:t>•  Clinical Utility: Confirms pathognomonic symmetric extensor distribution with silvery micaceous scale (Auspitz sign).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ICD-10-CM Harmonization: Diagnostic Classification Crosswalk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Standardized clinical categorization mapped directly to international diagnostic ontologies.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19476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L40.0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928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Psoriasis Vulgaris   [High Confidence (89%)]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Extensor (Elbows, Knees)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Salmon-pink plaques, micaceous silvery scale, Auspitz 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2512" y="19476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L20.9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8928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Atopic Dermatitis   [Differential Tier 2]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Flexural Folds (Antecubital, Popliteal)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Pruritic ill-defined lichenified plaques, xerosis, atopy link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33192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L30.1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2644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Dyshidrotic Eczema   [Differential Tier 2]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Acral (Lateral Digits, Palms, Soles)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Deep-seated 'tapioca-pudding' pruritic intraepidermal vesicles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546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82512" y="33192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B35.9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2644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Dermatophytosis (Tinea)   [Differential Tier 3]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Glabrous Body Skin, Inguinal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Annular scaly plaque with active advancing edge, central clearing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908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L71.0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6360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Rosacea   [Differential Tier 3]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Centrofacial (Malar Cheeks, Nose)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Persistent facial erythema, telangiectasias, absence of comedones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82512" y="4690872"/>
            <a:ext cx="914400" cy="320040"/>
          </a:xfrm>
          <a:prstGeom prst="roundRect">
            <a:avLst/>
          </a:prstGeom>
          <a:solidFill>
            <a:srgbClr val="0F6FBF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L03.9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636008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Cellulitis (Acute)   [Immediate Referral]</a:t>
            </a:r>
          </a:p>
          <a:p>
            <a:pPr>
              <a:spcBef>
                <a:spcPts val="200"/>
              </a:spcBef>
              <a:defRPr sz="950" b="1">
                <a:solidFill>
                  <a:srgbClr val="0F6FBF"/>
                </a:solidFill>
                <a:latin typeface="Calibri"/>
              </a:defRPr>
            </a:pPr>
            <a:r>
              <a:t>Distribution: Unilateral Lower Extremity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  <a:latin typeface="Calibri"/>
              </a:defRPr>
            </a:pPr>
            <a:r>
              <a:t>Features: Rapid spreading erythema, systemic fever, induration (Emergency)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6FBF"/>
                </a:solidFill>
                <a:latin typeface="Arial"/>
              </a:defRPr>
            </a:pPr>
            <a:r>
              <a:t>Clinical Harmonization: Standardized ICD-10 crosswalk enables automated EHR documentation and epidemiological reporting.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System Architecture: Client Preprocessing to Edge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End-to-end data pipeline maintaining zero-telemetry patient privacy and sub-800ms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9659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548640" cy="5486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743200"/>
            <a:ext cx="16367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Client Browser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React 18 &amp; TS Workstation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User loads PWA; intakes specimen image &amp; clinical parameters.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6936" y="1783080"/>
            <a:ext cx="19659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99816" y="2011680"/>
            <a:ext cx="548640" cy="5486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743200"/>
            <a:ext cx="16367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HTML5 Canvas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Optical Downsampling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2D canvas bilinear interpolation downsizes image to max 1024px.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2352" y="1783080"/>
            <a:ext cx="19659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85232" y="2011680"/>
            <a:ext cx="548640" cy="5486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2743200"/>
            <a:ext cx="16367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Vision AI Engine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Multimodal Analysis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Multimodal vision reasoning extracts clinical features &amp; morphology.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87768" y="1783080"/>
            <a:ext cx="19659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70648" y="2011680"/>
            <a:ext cx="548640" cy="5486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743200"/>
            <a:ext cx="16367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Rule-Based Fallback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Deterministic Triage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Clinical decision matrix ensures offline operational resilience.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3184" y="1783080"/>
            <a:ext cx="19659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56064" y="2011680"/>
            <a:ext cx="548640" cy="54864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7776" y="2743200"/>
            <a:ext cx="16367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Clinical Dossier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Client Session Store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Renders structured dossier &amp; commits scan record to browser state.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Zero-Telemetry Patient Privacy Guarantee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Cutaneous imagery is loaded strictly into client memory and downscaled on the user device. No patient identifiers or persistent media are committed to external cloud storage, satisfying HIPAA/GDPR clinical principles.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Technology Stack Matrix &amp; Performance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Modern TypeScript web ecosystem built for sub-second clinical triage execution.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120640" cy="45720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Frontend Framework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React 18.3 (Component-driven architecture)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Programming Language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TypeScript 5.7 (Strict static typing &amp; clinical schemas)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154679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Build Tooling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Vite 6 (ESM instant hot-reload &amp; tree-shaking)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49039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Styling System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Tailwind CSS 3.4 (Single-color #0F6FBF WCAG AAA tokens)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343400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Optical Processing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HTML5 2D Canvas API (Bilinear interpolation)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37760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Iconography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Lucide React (Clinical vector symbols)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532120"/>
            <a:ext cx="4754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950" b="1">
                <a:solidFill>
                  <a:srgbClr val="0F6FBF"/>
                </a:solidFill>
                <a:latin typeface="Arial"/>
              </a:defRPr>
            </a:pPr>
            <a:r>
              <a:t>Deployment &amp; Edge</a:t>
            </a:r>
          </a:p>
          <a:p>
            <a:pPr>
              <a:defRPr sz="1000">
                <a:solidFill>
                  <a:srgbClr val="0F172A"/>
                </a:solidFill>
                <a:latin typeface="Calibri"/>
              </a:defRPr>
            </a:pPr>
            <a:r>
              <a:t>Vercel Edge Global CDN (dermo-scan-nesn.vercel.app)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21208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Sub-800ms Edge Latency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Client-side canvas scaling eliminates network bottleneck. Payload payload size is reduced from 15MB to under 250KB before transmission.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26080"/>
            <a:ext cx="521208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WCAG 2.1 AAA Single-Color System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Eliminated red/amber/green traffic-light meters to avoid cognitive fatigue and prevent misinterpretation by color-vision deficient clinicians.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Schema-Compliant Type Safety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Strict TypeScript interfaces enforce exact property validation for ICD codes, confidence scores, and morphology matrices.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212080"/>
            <a:ext cx="521208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defRPr sz="1100" b="1">
                <a:solidFill>
                  <a:srgbClr val="0F6FBF"/>
                </a:solidFill>
                <a:latin typeface="Arial"/>
              </a:defRPr>
            </a:pPr>
            <a:r>
              <a:t>Deterministic Rule-Based Fallback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Zero downtime architecture: if connectivity drops, offline clinical decision trees maintain triage availability at remote primary clinics.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Clinical Safety Protocols &amp; Medical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DermoScan is engineered strictly as decision support, enforcing strict safety guardrails.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Triage-Only Gatekeeper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Physician-in-the-Loop Validation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Stratifies risk tiers (Routine, Expedited, Urgent) to prioritize clinical queues rather than generating unilateral automated diagnoses.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39312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Non-Skin Rejection Filter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Optical Specimen Integrity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Integrated quality filter detects low-resolution, blurred, or non-cutaneous images, rejecting corrupt specimens prior to inference.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83080"/>
            <a:ext cx="2542032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Emergency Escalation Protocol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Rapid Emergency Triage Referral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Automatic alert banners triggered for suspected acute cellulitis (L03.9) or malignant melanoma indicators (ABCDE criteria).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783080"/>
            <a:ext cx="2542032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2011680"/>
            <a:ext cx="594360" cy="594360"/>
          </a:xfrm>
          <a:prstGeom prst="roundRect">
            <a:avLst/>
          </a:prstGeom>
          <a:solidFill>
            <a:srgbClr val="EAF6FE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6FBF"/>
                </a:solidFill>
                <a:latin typeface="Arial"/>
              </a:defRPr>
            </a:pPr>
            <a:r>
              <a:t>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743200"/>
            <a:ext cx="217627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Steroid Misuse Safeguard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950" b="1">
                <a:solidFill>
                  <a:srgbClr val="0F6FBF"/>
                </a:solidFill>
                <a:latin typeface="Arial"/>
              </a:defRPr>
            </a:pPr>
            <a:r>
              <a:t>Tinea Incognito Prevention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Explicit contraindications warn against topical corticosteroids on annular scaly lesions until dermatophyte fungal scrape is ruled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06440"/>
            <a:ext cx="10728655" cy="594360"/>
          </a:xfrm>
          <a:prstGeom prst="roundRect">
            <a:avLst/>
          </a:prstGeom>
          <a:solidFill>
            <a:srgbClr val="F1F5F9"/>
          </a:solidFill>
          <a:ln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Clinical Governance Mandate: DermoScan does not replace clinical judgment; all recommendations require confirmation by a licensed physician.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F6FBF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Engineering Challenges Faced &amp; Technical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Calibri"/>
              </a:defRPr>
            </a:pPr>
            <a:r>
              <a:t>Addressing real-world constraints in client-side imaging, accessibility, and AI reliability.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9280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Challenge 1: High-Resolution Camera Payloads</a:t>
            </a:r>
          </a:p>
          <a:p>
            <a:pPr>
              <a:spcBef>
                <a:spcPts val="200"/>
              </a:spcBef>
              <a:spcAft>
                <a:spcPts val="500"/>
              </a:spcAft>
              <a:defRPr sz="950">
                <a:solidFill>
                  <a:srgbClr val="475569"/>
                </a:solidFill>
                <a:latin typeface="Calibri"/>
              </a:defRPr>
            </a:pPr>
            <a:r>
              <a:t>Modern smartphone cameras generate 15MB+ raw files, exceeding edge serverless body limits and stalling mobile networks.</a:t>
            </a:r>
          </a:p>
          <a:p>
            <a:pPr>
              <a:defRPr sz="1050" b="1">
                <a:solidFill>
                  <a:srgbClr val="0F6FBF"/>
                </a:solidFill>
                <a:latin typeface="Arial"/>
              </a:defRPr>
            </a:pPr>
            <a:r>
              <a:t>Solution: HTML5 Canvas 2D Downsampler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Engineered client-side canvas downsampling constrained to max 1024px while retaining pathognomonic scaling micro-textures.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120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9280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Challenge 2: Multi-Color Alarmism in Clinical UIs</a:t>
            </a:r>
          </a:p>
          <a:p>
            <a:pPr>
              <a:spcBef>
                <a:spcPts val="200"/>
              </a:spcBef>
              <a:spcAft>
                <a:spcPts val="500"/>
              </a:spcAft>
              <a:defRPr sz="950">
                <a:solidFill>
                  <a:srgbClr val="475569"/>
                </a:solidFill>
                <a:latin typeface="Calibri"/>
              </a:defRPr>
            </a:pPr>
            <a:r>
              <a:t>Conventional red/amber/green meters induce patient anxiety and confuse clinicians with deuteranopia color blindness.</a:t>
            </a:r>
          </a:p>
          <a:p>
            <a:pPr>
              <a:defRPr sz="1050" b="1">
                <a:solidFill>
                  <a:srgbClr val="0F6FBF"/>
                </a:solidFill>
                <a:latin typeface="Arial"/>
              </a:defRPr>
            </a:pPr>
            <a:r>
              <a:t>Solution: Single-Color #0F6FBF Clinical Palette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Standardized on WCAG 2.1 AAA medical blue (#0F6FBF) using typographic weight and percentage meters for calm clinical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Challenge 3: Vision AI Schema Drift</a:t>
            </a:r>
          </a:p>
          <a:p>
            <a:pPr>
              <a:spcBef>
                <a:spcPts val="200"/>
              </a:spcBef>
              <a:spcAft>
                <a:spcPts val="500"/>
              </a:spcAft>
              <a:defRPr sz="950">
                <a:solidFill>
                  <a:srgbClr val="475569"/>
                </a:solidFill>
                <a:latin typeface="Calibri"/>
              </a:defRPr>
            </a:pPr>
            <a:r>
              <a:t>Multimodal foundation models occasionally return markdown wrappers or hallucinated keys instead of valid JSON payloads.</a:t>
            </a:r>
          </a:p>
          <a:p>
            <a:pPr>
              <a:defRPr sz="1050" b="1">
                <a:solidFill>
                  <a:srgbClr val="0F6FBF"/>
                </a:solidFill>
                <a:latin typeface="Arial"/>
              </a:defRPr>
            </a:pPr>
            <a:r>
              <a:t>Solution: Regex-Based JSON Extraction Pipeline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Implemented regex-based sanitization that isolates JSON objects and strictly validates fields against TypeScript clinical types.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2452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Challenge 4: Phototype Diagnostic Bias</a:t>
            </a:r>
          </a:p>
          <a:p>
            <a:pPr>
              <a:spcBef>
                <a:spcPts val="200"/>
              </a:spcBef>
              <a:spcAft>
                <a:spcPts val="500"/>
              </a:spcAft>
              <a:defRPr sz="950">
                <a:solidFill>
                  <a:srgbClr val="475569"/>
                </a:solidFill>
                <a:latin typeface="Calibri"/>
              </a:defRPr>
            </a:pPr>
            <a:r>
              <a:t>Darker skin phototypes (Fitzpatrick IV–VI) often mask erythema, causing lower confidence on purely visual classifiers.</a:t>
            </a:r>
          </a:p>
          <a:p>
            <a:pPr>
              <a:defRPr sz="1050" b="1">
                <a:solidFill>
                  <a:srgbClr val="0F6FBF"/>
                </a:solidFill>
                <a:latin typeface="Arial"/>
              </a:defRPr>
            </a:pPr>
            <a:r>
              <a:t>Solution: Multi-Factor Clinical Weighting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Weighted anatomical body site, chronicity, and pruritus sensation metadata alongside image hue to equalize diagnostic confidence.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Arial"/>
              </a:defRPr>
            </a:pPr>
            <a:r>
              <a:t>DERMOSCAN AI WORKSTATION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What Comes Next: Future Roadmap &amp; 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94A3B8"/>
                </a:solidFill>
                <a:latin typeface="Calibri"/>
              </a:defRPr>
            </a:pPr>
            <a:r>
              <a:t>Advancing on-device intelligence, spectrophotometry, and hospital EHR interoperability.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On-Device MobileNetV4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Edge WebAssembly CNN model for 100% offline triage in remote clinics.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78308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ITA° Phototype Spectrophotometry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Individual Typology Angle skin calibration for melanin-equitable scoring.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78308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HL7 / FHIR Interoperability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Exporting standardized JSON clinical dossiers into hospital EHR systems.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Dermoscopy Lens Integration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Polarized magnification support for sub-epidermal melanocytic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97180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Multilingual Clinical Voice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Real-time speech transcription for rural healthcare workers in native languages.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2971800"/>
            <a:ext cx="3429000" cy="1051560"/>
          </a:xfrm>
          <a:prstGeom prst="roundRect">
            <a:avLst/>
          </a:prstGeom>
          <a:solidFill>
            <a:srgbClr val="112644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0EA5E9"/>
                </a:solidFill>
                <a:latin typeface="Arial"/>
              </a:defRPr>
            </a:pPr>
            <a:r>
              <a:t>Teledermatology E-Referral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One-click encrypted case referral dispatch to regional hospital dermatologists.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97680"/>
            <a:ext cx="10728655" cy="2011680"/>
          </a:xfrm>
          <a:prstGeom prst="roundRect">
            <a:avLst/>
          </a:prstGeom>
          <a:solidFill>
            <a:srgbClr val="112644"/>
          </a:solidFill>
          <a:ln w="19050">
            <a:solidFill>
              <a:srgbClr val="0F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Thank You! — DermoScan Clinical Decision Support System</a:t>
            </a:r>
          </a:p>
          <a:p>
            <a:pPr>
              <a:spcBef>
                <a:spcPts val="600"/>
              </a:spcBef>
              <a:defRPr sz="1100" b="1">
                <a:solidFill>
                  <a:srgbClr val="0EA5E9"/>
                </a:solidFill>
                <a:latin typeface="Arial"/>
              </a:defRPr>
            </a:pPr>
            <a:r>
              <a:t>• Live Application: https://dermo-scan-nesn.vercel.app/    |    • GitHub Repository: https://github.com/vijayesh26/Dermo-Scan-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Developed by Bhumireddy.Vijayesh Vardhan Reddy (Roll No: 72312924)  •  B.Tech CSE (AI &amp; DS)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Department of Computer Science &amp; Engineering, CT University, Ludhiana  |  Data Valley Pvt. Ltd.</a:t>
            </a:r>
          </a:p>
          <a:p>
            <a:pPr>
              <a:spcBef>
                <a:spcPts val="400"/>
              </a:spcBef>
              <a:defRPr sz="900" i="1">
                <a:solidFill>
                  <a:srgbClr val="94A3B8"/>
                </a:solidFill>
                <a:latin typeface="Calibri"/>
              </a:defRPr>
            </a:pPr>
            <a:r>
              <a:t>Academic Notice: DermoScan is an educational and clinical decision support system. For real medical concerns, always consult a licensed dermatologist.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