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pic>
        <p:nvPicPr>
          <p:cNvPr id="2" name="Picture 1" descr="ct_university_logo.png"/>
          <p:cNvPicPr>
            <a:picLocks noChangeAspect="1"/>
          </p:cNvPicPr>
          <p:nvPr/>
        </p:nvPicPr>
        <p:blipFill>
          <a:blip r:embed="rId2"/>
          <a:stretch>
            <a:fillRect/>
          </a:stretch>
        </p:blipFill>
        <p:spPr>
          <a:xfrm>
            <a:off x="731520" y="594360"/>
            <a:ext cx="2926080" cy="1554221"/>
          </a:xfrm>
          <a:prstGeom prst="rect">
            <a:avLst/>
          </a:prstGeom>
        </p:spPr>
      </p:pic>
      <p:sp>
        <p:nvSpPr>
          <p:cNvPr id="3" name="Rounded Rectangle 2"/>
          <p:cNvSpPr/>
          <p:nvPr/>
        </p:nvSpPr>
        <p:spPr>
          <a:xfrm>
            <a:off x="731520" y="1600200"/>
            <a:ext cx="2926080" cy="329184"/>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AI HEALTHCARE INTERNSHIP PROJECT</a:t>
            </a:r>
          </a:p>
        </p:txBody>
      </p:sp>
      <p:sp>
        <p:nvSpPr>
          <p:cNvPr id="4" name="TextBox 3"/>
          <p:cNvSpPr txBox="1"/>
          <p:nvPr/>
        </p:nvSpPr>
        <p:spPr>
          <a:xfrm>
            <a:off x="731520" y="2029968"/>
            <a:ext cx="6217920" cy="914400"/>
          </a:xfrm>
          <a:prstGeom prst="rect">
            <a:avLst/>
          </a:prstGeom>
          <a:noFill/>
        </p:spPr>
        <p:txBody>
          <a:bodyPr wrap="none">
            <a:spAutoFit/>
          </a:bodyPr>
          <a:lstStyle/>
          <a:p>
            <a:pPr>
              <a:defRPr sz="4400" b="1">
                <a:solidFill>
                  <a:srgbClr val="FFFFFF"/>
                </a:solidFill>
                <a:latin typeface="Arial"/>
              </a:defRPr>
            </a:pPr>
            <a:r>
              <a:t>DermoScan</a:t>
            </a:r>
          </a:p>
        </p:txBody>
      </p:sp>
      <p:sp>
        <p:nvSpPr>
          <p:cNvPr id="5" name="TextBox 4"/>
          <p:cNvSpPr txBox="1"/>
          <p:nvPr/>
        </p:nvSpPr>
        <p:spPr>
          <a:xfrm>
            <a:off x="731520" y="2999232"/>
            <a:ext cx="6217920" cy="457200"/>
          </a:xfrm>
          <a:prstGeom prst="rect">
            <a:avLst/>
          </a:prstGeom>
          <a:noFill/>
        </p:spPr>
        <p:txBody>
          <a:bodyPr wrap="none">
            <a:spAutoFit/>
          </a:bodyPr>
          <a:lstStyle/>
          <a:p>
            <a:pPr>
              <a:defRPr sz="1800" b="1">
                <a:solidFill>
                  <a:srgbClr val="0EA5E9"/>
                </a:solidFill>
                <a:latin typeface="Arial"/>
              </a:defRPr>
            </a:pPr>
            <a:r>
              <a:t>Smart Skin Check &amp; Triage Assistant</a:t>
            </a:r>
          </a:p>
        </p:txBody>
      </p:sp>
      <p:sp>
        <p:nvSpPr>
          <p:cNvPr id="6" name="TextBox 5"/>
          <p:cNvSpPr txBox="1"/>
          <p:nvPr/>
        </p:nvSpPr>
        <p:spPr>
          <a:xfrm>
            <a:off x="731520" y="3520440"/>
            <a:ext cx="6035040" cy="777240"/>
          </a:xfrm>
          <a:prstGeom prst="rect">
            <a:avLst/>
          </a:prstGeom>
          <a:noFill/>
        </p:spPr>
        <p:txBody>
          <a:bodyPr wrap="square">
            <a:spAutoFit/>
          </a:bodyPr>
          <a:lstStyle/>
          <a:p>
            <a:pPr>
              <a:defRPr sz="1250">
                <a:solidFill>
                  <a:srgbClr val="94A3B8"/>
                </a:solidFill>
                <a:latin typeface="Calibri"/>
              </a:defRPr>
            </a:pPr>
            <a:r>
              <a:t>Upload a photo of a skin rash or problem and get instant, easy-to-understand AI guidance. Helps you understand what it might be and what safe steps to take before seeing a doctor.</a:t>
            </a:r>
          </a:p>
        </p:txBody>
      </p:sp>
      <p:sp>
        <p:nvSpPr>
          <p:cNvPr id="7" name="Rounded Rectangle 6"/>
          <p:cNvSpPr/>
          <p:nvPr/>
        </p:nvSpPr>
        <p:spPr>
          <a:xfrm>
            <a:off x="731520" y="4434840"/>
            <a:ext cx="6035040" cy="1874519"/>
          </a:xfrm>
          <a:prstGeom prst="roundRect">
            <a:avLst/>
          </a:prstGeom>
          <a:solidFill>
            <a:srgbClr val="112644"/>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FFFFFF"/>
                </a:solidFill>
                <a:latin typeface="Arial"/>
              </a:defRPr>
            </a:pPr>
            <a:r>
              <a:t>Student: Bhumireddy.Vijayesh Vardhan Reddy</a:t>
            </a:r>
          </a:p>
          <a:p>
            <a:pPr>
              <a:spcBef>
                <a:spcPts val="200"/>
              </a:spcBef>
              <a:defRPr sz="1100" b="1">
                <a:solidFill>
                  <a:srgbClr val="0EA5E9"/>
                </a:solidFill>
                <a:latin typeface="Arial"/>
              </a:defRPr>
            </a:pPr>
            <a:r>
              <a:t>University Roll Number: 72312924</a:t>
            </a:r>
          </a:p>
          <a:p>
            <a:pPr>
              <a:spcBef>
                <a:spcPts val="200"/>
              </a:spcBef>
              <a:defRPr sz="1050">
                <a:solidFill>
                  <a:srgbClr val="94A3B8"/>
                </a:solidFill>
                <a:latin typeface="Calibri"/>
              </a:defRPr>
            </a:pPr>
            <a:r>
              <a:t>Course: B.Tech in Computer Science and Engineering (AI &amp; DS)</a:t>
            </a:r>
          </a:p>
          <a:p>
            <a:pPr>
              <a:defRPr sz="1050">
                <a:solidFill>
                  <a:srgbClr val="94A3B8"/>
                </a:solidFill>
                <a:latin typeface="Calibri"/>
              </a:defRPr>
            </a:pPr>
            <a:r>
              <a:t>University: CT University, Ludhiana (Punjab), India</a:t>
            </a:r>
          </a:p>
          <a:p>
            <a:pPr>
              <a:defRPr sz="1050">
                <a:solidFill>
                  <a:srgbClr val="94A3B8"/>
                </a:solidFill>
                <a:latin typeface="Calibri"/>
              </a:defRPr>
            </a:pPr>
            <a:r>
              <a:t>Organization: Data Valley Pvt. Ltd. (in collaboration with APSCHE)</a:t>
            </a:r>
          </a:p>
          <a:p>
            <a:pPr>
              <a:spcBef>
                <a:spcPts val="200"/>
              </a:spcBef>
              <a:defRPr sz="1000">
                <a:solidFill>
                  <a:srgbClr val="0EA5E9"/>
                </a:solidFill>
                <a:latin typeface="Calibri"/>
              </a:defRPr>
            </a:pPr>
            <a:r>
              <a:t>Guides: Shaik. Arshad (Data Valley) | Er. Rohit Kumar (CT University)</a:t>
            </a:r>
          </a:p>
        </p:txBody>
      </p:sp>
      <p:sp>
        <p:nvSpPr>
          <p:cNvPr id="8" name="Rounded Rectangle 7"/>
          <p:cNvSpPr/>
          <p:nvPr/>
        </p:nvSpPr>
        <p:spPr>
          <a:xfrm>
            <a:off x="7132320" y="731520"/>
            <a:ext cx="4297680" cy="5577840"/>
          </a:xfrm>
          <a:prstGeom prst="roundRect">
            <a:avLst/>
          </a:prstGeom>
          <a:solidFill>
            <a:srgbClr val="112644"/>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960120"/>
            <a:ext cx="3749039" cy="320040"/>
          </a:xfrm>
          <a:prstGeom prst="rect">
            <a:avLst/>
          </a:prstGeom>
          <a:noFill/>
        </p:spPr>
        <p:txBody>
          <a:bodyPr wrap="none">
            <a:spAutoFit/>
          </a:bodyPr>
          <a:lstStyle/>
          <a:p>
            <a:pPr>
              <a:defRPr sz="1000" b="1">
                <a:solidFill>
                  <a:srgbClr val="0EA5E9"/>
                </a:solidFill>
                <a:latin typeface="Arial"/>
              </a:defRPr>
            </a:pPr>
            <a:r>
              <a:t>LIVE PLATFORM &amp; HIGHLIGHTS</a:t>
            </a:r>
          </a:p>
        </p:txBody>
      </p:sp>
      <p:sp>
        <p:nvSpPr>
          <p:cNvPr id="10" name="Rounded Rectangle 9"/>
          <p:cNvSpPr/>
          <p:nvPr/>
        </p:nvSpPr>
        <p:spPr>
          <a:xfrm>
            <a:off x="7406640" y="1417320"/>
            <a:ext cx="3749039" cy="822960"/>
          </a:xfrm>
          <a:prstGeom prst="roundRect">
            <a:avLst/>
          </a:prstGeom>
          <a:solidFill>
            <a:srgbClr val="0E1E36"/>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sz="950" b="1">
                <a:solidFill>
                  <a:srgbClr val="0EA5E9"/>
                </a:solidFill>
                <a:latin typeface="Arial"/>
              </a:defRPr>
            </a:pPr>
            <a:r>
              <a:t>Live Website</a:t>
            </a:r>
          </a:p>
          <a:p>
            <a:pPr>
              <a:defRPr sz="1100" b="1">
                <a:solidFill>
                  <a:srgbClr val="FFFFFF"/>
                </a:solidFill>
                <a:latin typeface="Arial"/>
              </a:defRPr>
            </a:pPr>
            <a:r>
              <a:t>dermo-scan-nesn.vercel.app</a:t>
            </a:r>
          </a:p>
          <a:p>
            <a:pPr>
              <a:defRPr sz="900">
                <a:solidFill>
                  <a:srgbClr val="94A3B8"/>
                </a:solidFill>
                <a:latin typeface="Calibri"/>
              </a:defRPr>
            </a:pPr>
            <a:r>
              <a:t>Open on any phone or laptop browser; free and live</a:t>
            </a:r>
          </a:p>
        </p:txBody>
      </p:sp>
      <p:sp>
        <p:nvSpPr>
          <p:cNvPr id="11" name="Rounded Rectangle 10"/>
          <p:cNvSpPr/>
          <p:nvPr/>
        </p:nvSpPr>
        <p:spPr>
          <a:xfrm>
            <a:off x="7406640" y="2331720"/>
            <a:ext cx="3749039" cy="822960"/>
          </a:xfrm>
          <a:prstGeom prst="roundRect">
            <a:avLst/>
          </a:prstGeom>
          <a:solidFill>
            <a:srgbClr val="0E1E36"/>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sz="950" b="1">
                <a:solidFill>
                  <a:srgbClr val="0EA5E9"/>
                </a:solidFill>
                <a:latin typeface="Arial"/>
              </a:defRPr>
            </a:pPr>
            <a:r>
              <a:t>Source Code</a:t>
            </a:r>
          </a:p>
          <a:p>
            <a:pPr>
              <a:defRPr sz="1100" b="1">
                <a:solidFill>
                  <a:srgbClr val="FFFFFF"/>
                </a:solidFill>
                <a:latin typeface="Arial"/>
              </a:defRPr>
            </a:pPr>
            <a:r>
              <a:t>github.com/vijayesh26/Dermo-Scan-</a:t>
            </a:r>
          </a:p>
          <a:p>
            <a:pPr>
              <a:defRPr sz="900">
                <a:solidFill>
                  <a:srgbClr val="94A3B8"/>
                </a:solidFill>
                <a:latin typeface="Calibri"/>
              </a:defRPr>
            </a:pPr>
            <a:r>
              <a:t>Complete React and TypeScript source code</a:t>
            </a:r>
          </a:p>
        </p:txBody>
      </p:sp>
      <p:sp>
        <p:nvSpPr>
          <p:cNvPr id="12" name="Rounded Rectangle 11"/>
          <p:cNvSpPr/>
          <p:nvPr/>
        </p:nvSpPr>
        <p:spPr>
          <a:xfrm>
            <a:off x="7406640" y="3246120"/>
            <a:ext cx="3749039" cy="822960"/>
          </a:xfrm>
          <a:prstGeom prst="roundRect">
            <a:avLst/>
          </a:prstGeom>
          <a:solidFill>
            <a:srgbClr val="0E1E36"/>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sz="950" b="1">
                <a:solidFill>
                  <a:srgbClr val="0EA5E9"/>
                </a:solidFill>
                <a:latin typeface="Arial"/>
              </a:defRPr>
            </a:pPr>
            <a:r>
              <a:t>Easy on the Eyes</a:t>
            </a:r>
          </a:p>
          <a:p>
            <a:pPr>
              <a:defRPr sz="1100" b="1">
                <a:solidFill>
                  <a:srgbClr val="FFFFFF"/>
                </a:solidFill>
                <a:latin typeface="Arial"/>
              </a:defRPr>
            </a:pPr>
            <a:r>
              <a:t>Calm Medical Blue Design</a:t>
            </a:r>
          </a:p>
          <a:p>
            <a:pPr>
              <a:defRPr sz="900">
                <a:solidFill>
                  <a:srgbClr val="94A3B8"/>
                </a:solidFill>
                <a:latin typeface="Calibri"/>
              </a:defRPr>
            </a:pPr>
            <a:r>
              <a:t>No scary red alert meters; clean, easy-to-read cards</a:t>
            </a:r>
          </a:p>
        </p:txBody>
      </p:sp>
      <p:sp>
        <p:nvSpPr>
          <p:cNvPr id="13" name="Rounded Rectangle 12"/>
          <p:cNvSpPr/>
          <p:nvPr/>
        </p:nvSpPr>
        <p:spPr>
          <a:xfrm>
            <a:off x="7406640" y="4160520"/>
            <a:ext cx="3749039" cy="822960"/>
          </a:xfrm>
          <a:prstGeom prst="roundRect">
            <a:avLst/>
          </a:prstGeom>
          <a:solidFill>
            <a:srgbClr val="0E1E36"/>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sz="950" b="1">
                <a:solidFill>
                  <a:srgbClr val="0EA5E9"/>
                </a:solidFill>
                <a:latin typeface="Arial"/>
              </a:defRPr>
            </a:pPr>
            <a:r>
              <a:t>Doctor Standards</a:t>
            </a:r>
          </a:p>
          <a:p>
            <a:pPr>
              <a:defRPr sz="1100" b="1">
                <a:solidFill>
                  <a:srgbClr val="FFFFFF"/>
                </a:solidFill>
                <a:latin typeface="Arial"/>
              </a:defRPr>
            </a:pPr>
            <a:r>
              <a:t>Real ICD-10 Medical Codes</a:t>
            </a:r>
          </a:p>
          <a:p>
            <a:pPr>
              <a:defRPr sz="900">
                <a:solidFill>
                  <a:srgbClr val="94A3B8"/>
                </a:solidFill>
                <a:latin typeface="Calibri"/>
              </a:defRPr>
            </a:pPr>
            <a:r>
              <a:t>Uses standard medical codes used by doctors worldwide</a:t>
            </a:r>
          </a:p>
        </p:txBody>
      </p:sp>
      <p:sp>
        <p:nvSpPr>
          <p:cNvPr id="14" name="Rounded Rectangle 13"/>
          <p:cNvSpPr/>
          <p:nvPr/>
        </p:nvSpPr>
        <p:spPr>
          <a:xfrm>
            <a:off x="7406640" y="5074920"/>
            <a:ext cx="3749039" cy="822960"/>
          </a:xfrm>
          <a:prstGeom prst="roundRect">
            <a:avLst/>
          </a:prstGeom>
          <a:solidFill>
            <a:srgbClr val="0E1E36"/>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sz="950" b="1">
                <a:solidFill>
                  <a:srgbClr val="0EA5E9"/>
                </a:solidFill>
                <a:latin typeface="Arial"/>
              </a:defRPr>
            </a:pPr>
            <a:r>
              <a:t>100% Private</a:t>
            </a:r>
          </a:p>
          <a:p>
            <a:pPr>
              <a:defRPr sz="1100" b="1">
                <a:solidFill>
                  <a:srgbClr val="FFFFFF"/>
                </a:solidFill>
                <a:latin typeface="Arial"/>
              </a:defRPr>
            </a:pPr>
            <a:r>
              <a:t>Your Photos Are Never Saved</a:t>
            </a:r>
          </a:p>
          <a:p>
            <a:pPr>
              <a:defRPr sz="900">
                <a:solidFill>
                  <a:srgbClr val="94A3B8"/>
                </a:solidFill>
                <a:latin typeface="Calibri"/>
              </a:defRPr>
            </a:pPr>
            <a:r>
              <a:t>Everything stays in your device memory; zero cloud storage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The Problem: Getting skin rashes checked is slow and confusing</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Skin problems are very common, but getting the right help quickly is surprisingly difficult.</a:t>
            </a:r>
          </a:p>
        </p:txBody>
      </p:sp>
      <p:sp>
        <p:nvSpPr>
          <p:cNvPr id="5" name="Rounded Rectangle 4"/>
          <p:cNvSpPr/>
          <p:nvPr/>
        </p:nvSpPr>
        <p:spPr>
          <a:xfrm>
            <a:off x="731520" y="1783080"/>
            <a:ext cx="2542032"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11680"/>
            <a:ext cx="594360" cy="59436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F6FBF"/>
                </a:solidFill>
                <a:latin typeface="Arial"/>
              </a:defRPr>
            </a:pPr>
            <a:r>
              <a:t>01</a:t>
            </a:r>
          </a:p>
        </p:txBody>
      </p:sp>
      <p:sp>
        <p:nvSpPr>
          <p:cNvPr id="7" name="TextBox 6"/>
          <p:cNvSpPr txBox="1"/>
          <p:nvPr/>
        </p:nvSpPr>
        <p:spPr>
          <a:xfrm>
            <a:off x="914400" y="2743200"/>
            <a:ext cx="2176272" cy="2651760"/>
          </a:xfrm>
          <a:prstGeom prst="rect">
            <a:avLst/>
          </a:prstGeom>
          <a:noFill/>
        </p:spPr>
        <p:txBody>
          <a:bodyPr wrap="square">
            <a:spAutoFit/>
          </a:bodyPr>
          <a:lstStyle/>
          <a:p>
            <a:pPr>
              <a:defRPr sz="1300" b="1">
                <a:solidFill>
                  <a:srgbClr val="0F172A"/>
                </a:solidFill>
                <a:latin typeface="Arial"/>
              </a:defRPr>
            </a:pPr>
            <a:r>
              <a:t>Long Doctor Wait Times</a:t>
            </a:r>
          </a:p>
          <a:p>
            <a:pPr>
              <a:spcBef>
                <a:spcPts val="400"/>
              </a:spcBef>
              <a:spcAft>
                <a:spcPts val="800"/>
              </a:spcAft>
              <a:defRPr sz="1050" b="1">
                <a:solidFill>
                  <a:srgbClr val="0F6FBF"/>
                </a:solidFill>
                <a:latin typeface="Arial"/>
              </a:defRPr>
            </a:pPr>
            <a:r>
              <a:t>Waiting 1 to 3 Months</a:t>
            </a:r>
          </a:p>
          <a:p>
            <a:pPr>
              <a:defRPr sz="1100">
                <a:solidFill>
                  <a:srgbClr val="475569"/>
                </a:solidFill>
                <a:latin typeface="Calibri"/>
              </a:defRPr>
            </a:pPr>
            <a:r>
              <a:t>Specialist skin doctors are few and far between. People often wait weeks just for a 5-minute appointment, while rashes get worse.</a:t>
            </a:r>
          </a:p>
        </p:txBody>
      </p:sp>
      <p:sp>
        <p:nvSpPr>
          <p:cNvPr id="8" name="Rounded Rectangle 7"/>
          <p:cNvSpPr/>
          <p:nvPr/>
        </p:nvSpPr>
        <p:spPr>
          <a:xfrm>
            <a:off x="3456432" y="1783080"/>
            <a:ext cx="2542032"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39312" y="2011680"/>
            <a:ext cx="594360" cy="59436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F6FBF"/>
                </a:solidFill>
                <a:latin typeface="Arial"/>
              </a:defRPr>
            </a:pPr>
            <a:r>
              <a:t>02</a:t>
            </a:r>
          </a:p>
        </p:txBody>
      </p:sp>
      <p:sp>
        <p:nvSpPr>
          <p:cNvPr id="10" name="TextBox 9"/>
          <p:cNvSpPr txBox="1"/>
          <p:nvPr/>
        </p:nvSpPr>
        <p:spPr>
          <a:xfrm>
            <a:off x="3639312" y="2743200"/>
            <a:ext cx="2176272" cy="2651760"/>
          </a:xfrm>
          <a:prstGeom prst="rect">
            <a:avLst/>
          </a:prstGeom>
          <a:noFill/>
        </p:spPr>
        <p:txBody>
          <a:bodyPr wrap="square">
            <a:spAutoFit/>
          </a:bodyPr>
          <a:lstStyle/>
          <a:p>
            <a:pPr>
              <a:defRPr sz="1300" b="1">
                <a:solidFill>
                  <a:srgbClr val="0F172A"/>
                </a:solidFill>
                <a:latin typeface="Arial"/>
              </a:defRPr>
            </a:pPr>
            <a:r>
              <a:t>Rashes Look Very Similar</a:t>
            </a:r>
          </a:p>
          <a:p>
            <a:pPr>
              <a:spcBef>
                <a:spcPts val="400"/>
              </a:spcBef>
              <a:spcAft>
                <a:spcPts val="800"/>
              </a:spcAft>
              <a:defRPr sz="1050" b="1">
                <a:solidFill>
                  <a:srgbClr val="0F6FBF"/>
                </a:solidFill>
                <a:latin typeface="Arial"/>
              </a:defRPr>
            </a:pPr>
            <a:r>
              <a:t>Hard to Tell Apart</a:t>
            </a:r>
          </a:p>
          <a:p>
            <a:pPr>
              <a:defRPr sz="1100">
                <a:solidFill>
                  <a:srgbClr val="475569"/>
                </a:solidFill>
                <a:latin typeface="Calibri"/>
              </a:defRPr>
            </a:pPr>
            <a:r>
              <a:t>Psoriasis, eczema, allergies, and ringworm often look almost identical to normal people and general doctors in early stages.</a:t>
            </a:r>
          </a:p>
        </p:txBody>
      </p:sp>
      <p:sp>
        <p:nvSpPr>
          <p:cNvPr id="11" name="Rounded Rectangle 10"/>
          <p:cNvSpPr/>
          <p:nvPr/>
        </p:nvSpPr>
        <p:spPr>
          <a:xfrm>
            <a:off x="6181344" y="1783080"/>
            <a:ext cx="2542032"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64224" y="2011680"/>
            <a:ext cx="594360" cy="59436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F6FBF"/>
                </a:solidFill>
                <a:latin typeface="Arial"/>
              </a:defRPr>
            </a:pPr>
            <a:r>
              <a:t>03</a:t>
            </a:r>
          </a:p>
        </p:txBody>
      </p:sp>
      <p:sp>
        <p:nvSpPr>
          <p:cNvPr id="13" name="TextBox 12"/>
          <p:cNvSpPr txBox="1"/>
          <p:nvPr/>
        </p:nvSpPr>
        <p:spPr>
          <a:xfrm>
            <a:off x="6364224" y="2743200"/>
            <a:ext cx="2176272" cy="2651760"/>
          </a:xfrm>
          <a:prstGeom prst="rect">
            <a:avLst/>
          </a:prstGeom>
          <a:noFill/>
        </p:spPr>
        <p:txBody>
          <a:bodyPr wrap="square">
            <a:spAutoFit/>
          </a:bodyPr>
          <a:lstStyle/>
          <a:p>
            <a:pPr>
              <a:defRPr sz="1300" b="1">
                <a:solidFill>
                  <a:srgbClr val="0F172A"/>
                </a:solidFill>
                <a:latin typeface="Arial"/>
              </a:defRPr>
            </a:pPr>
            <a:r>
              <a:t>Wrong Creams Used</a:t>
            </a:r>
          </a:p>
          <a:p>
            <a:pPr>
              <a:spcBef>
                <a:spcPts val="400"/>
              </a:spcBef>
              <a:spcAft>
                <a:spcPts val="800"/>
              </a:spcAft>
              <a:defRPr sz="1050" b="1">
                <a:solidFill>
                  <a:srgbClr val="0F6FBF"/>
                </a:solidFill>
                <a:latin typeface="Arial"/>
              </a:defRPr>
            </a:pPr>
            <a:r>
              <a:t>Dangerous Self-Treatment</a:t>
            </a:r>
          </a:p>
          <a:p>
            <a:pPr>
              <a:defRPr sz="1100">
                <a:solidFill>
                  <a:srgbClr val="475569"/>
                </a:solidFill>
                <a:latin typeface="Calibri"/>
              </a:defRPr>
            </a:pPr>
            <a:r>
              <a:t>Many people buy strong steroid creams from pharmacies for fungal infections. This makes the fungus grow much deeper into the skin.</a:t>
            </a:r>
          </a:p>
        </p:txBody>
      </p:sp>
      <p:sp>
        <p:nvSpPr>
          <p:cNvPr id="14" name="Rounded Rectangle 13"/>
          <p:cNvSpPr/>
          <p:nvPr/>
        </p:nvSpPr>
        <p:spPr>
          <a:xfrm>
            <a:off x="8906256" y="1783080"/>
            <a:ext cx="2542032"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89136" y="2011680"/>
            <a:ext cx="594360" cy="59436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F6FBF"/>
                </a:solidFill>
                <a:latin typeface="Arial"/>
              </a:defRPr>
            </a:pPr>
            <a:r>
              <a:t>04</a:t>
            </a:r>
          </a:p>
        </p:txBody>
      </p:sp>
      <p:sp>
        <p:nvSpPr>
          <p:cNvPr id="16" name="TextBox 15"/>
          <p:cNvSpPr txBox="1"/>
          <p:nvPr/>
        </p:nvSpPr>
        <p:spPr>
          <a:xfrm>
            <a:off x="9089136" y="2743200"/>
            <a:ext cx="2176272" cy="2651760"/>
          </a:xfrm>
          <a:prstGeom prst="rect">
            <a:avLst/>
          </a:prstGeom>
          <a:noFill/>
        </p:spPr>
        <p:txBody>
          <a:bodyPr wrap="square">
            <a:spAutoFit/>
          </a:bodyPr>
          <a:lstStyle/>
          <a:p>
            <a:pPr>
              <a:defRPr sz="1300" b="1">
                <a:solidFill>
                  <a:srgbClr val="0F172A"/>
                </a:solidFill>
                <a:latin typeface="Arial"/>
              </a:defRPr>
            </a:pPr>
            <a:r>
              <a:t>Harder on Darker Skin</a:t>
            </a:r>
          </a:p>
          <a:p>
            <a:pPr>
              <a:spcBef>
                <a:spcPts val="400"/>
              </a:spcBef>
              <a:spcAft>
                <a:spcPts val="800"/>
              </a:spcAft>
              <a:defRPr sz="1050" b="1">
                <a:solidFill>
                  <a:srgbClr val="0F6FBF"/>
                </a:solidFill>
                <a:latin typeface="Arial"/>
              </a:defRPr>
            </a:pPr>
            <a:r>
              <a:t>Redness Gets Hidden</a:t>
            </a:r>
          </a:p>
          <a:p>
            <a:pPr>
              <a:defRPr sz="1100">
                <a:solidFill>
                  <a:srgbClr val="475569"/>
                </a:solidFill>
                <a:latin typeface="Calibri"/>
              </a:defRPr>
            </a:pPr>
            <a:r>
              <a:t>Most medical textbooks only show white skin. Redness is hard to see on brown or dark skin, leading to missed or delayed diagnosis.</a:t>
            </a:r>
          </a:p>
        </p:txBody>
      </p:sp>
      <p:sp>
        <p:nvSpPr>
          <p:cNvPr id="17" name="Rounded Rectangle 16"/>
          <p:cNvSpPr/>
          <p:nvPr/>
        </p:nvSpPr>
        <p:spPr>
          <a:xfrm>
            <a:off x="731520" y="5806440"/>
            <a:ext cx="10728655" cy="594360"/>
          </a:xfrm>
          <a:prstGeom prst="roundRect">
            <a:avLst/>
          </a:prstGeom>
          <a:solidFill>
            <a:srgbClr val="F1F5F9"/>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F172A"/>
                </a:solidFill>
                <a:latin typeface="Arial"/>
              </a:defRPr>
            </a:pPr>
            <a:r>
              <a:t>The Result: People panic, try the wrong creams at home, and crowd hospitals for minor issues that could be easily managed.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The Solution: Fast, simple skin checks in 4 easy steps</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DermoScan gives anyone quick, safe guidance and home-care advice in seconds.</a:t>
            </a:r>
          </a:p>
        </p:txBody>
      </p:sp>
      <p:sp>
        <p:nvSpPr>
          <p:cNvPr id="5" name="Rounded Rectangle 4"/>
          <p:cNvSpPr/>
          <p:nvPr/>
        </p:nvSpPr>
        <p:spPr>
          <a:xfrm>
            <a:off x="731520" y="1783080"/>
            <a:ext cx="2542032" cy="3840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011680"/>
            <a:ext cx="594360" cy="594360"/>
          </a:xfrm>
          <a:prstGeom prst="ellipse">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rial"/>
              </a:defRPr>
            </a:pPr>
            <a:r>
              <a:t>1</a:t>
            </a:r>
          </a:p>
        </p:txBody>
      </p:sp>
      <p:sp>
        <p:nvSpPr>
          <p:cNvPr id="7" name="TextBox 6"/>
          <p:cNvSpPr txBox="1"/>
          <p:nvPr/>
        </p:nvSpPr>
        <p:spPr>
          <a:xfrm>
            <a:off x="914400" y="2743200"/>
            <a:ext cx="2176272" cy="2651760"/>
          </a:xfrm>
          <a:prstGeom prst="rect">
            <a:avLst/>
          </a:prstGeom>
          <a:noFill/>
        </p:spPr>
        <p:txBody>
          <a:bodyPr wrap="square">
            <a:spAutoFit/>
          </a:bodyPr>
          <a:lstStyle/>
          <a:p>
            <a:pPr>
              <a:defRPr sz="1300" b="1">
                <a:solidFill>
                  <a:srgbClr val="0F172A"/>
                </a:solidFill>
                <a:latin typeface="Arial"/>
              </a:defRPr>
            </a:pPr>
            <a:r>
              <a:t>Take &amp; Upload Photo</a:t>
            </a:r>
          </a:p>
          <a:p>
            <a:pPr>
              <a:spcBef>
                <a:spcPts val="400"/>
              </a:spcBef>
              <a:spcAft>
                <a:spcPts val="800"/>
              </a:spcAft>
              <a:defRPr sz="1000" b="1">
                <a:solidFill>
                  <a:srgbClr val="0F6FBF"/>
                </a:solidFill>
                <a:latin typeface="Arial"/>
              </a:defRPr>
            </a:pPr>
            <a:r>
              <a:t>Step 1: Simple Photo</a:t>
            </a:r>
          </a:p>
          <a:p>
            <a:pPr>
              <a:defRPr sz="1100">
                <a:solidFill>
                  <a:srgbClr val="475569"/>
                </a:solidFill>
                <a:latin typeface="Calibri"/>
              </a:defRPr>
            </a:pPr>
            <a:r>
              <a:t>Take a clear photo of the skin rash using your smartphone or upload any picture. Big camera photos are resized automatically so it runs fast.</a:t>
            </a:r>
          </a:p>
        </p:txBody>
      </p:sp>
      <p:sp>
        <p:nvSpPr>
          <p:cNvPr id="8" name="Rounded Rectangle 7"/>
          <p:cNvSpPr/>
          <p:nvPr/>
        </p:nvSpPr>
        <p:spPr>
          <a:xfrm>
            <a:off x="3456432" y="1783080"/>
            <a:ext cx="2542032" cy="3840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39312" y="2011680"/>
            <a:ext cx="594360" cy="594360"/>
          </a:xfrm>
          <a:prstGeom prst="ellipse">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rial"/>
              </a:defRPr>
            </a:pPr>
            <a:r>
              <a:t>2</a:t>
            </a:r>
          </a:p>
        </p:txBody>
      </p:sp>
      <p:sp>
        <p:nvSpPr>
          <p:cNvPr id="10" name="TextBox 9"/>
          <p:cNvSpPr txBox="1"/>
          <p:nvPr/>
        </p:nvSpPr>
        <p:spPr>
          <a:xfrm>
            <a:off x="3639312" y="2743200"/>
            <a:ext cx="2176272" cy="2651760"/>
          </a:xfrm>
          <a:prstGeom prst="rect">
            <a:avLst/>
          </a:prstGeom>
          <a:noFill/>
        </p:spPr>
        <p:txBody>
          <a:bodyPr wrap="square">
            <a:spAutoFit/>
          </a:bodyPr>
          <a:lstStyle/>
          <a:p>
            <a:pPr>
              <a:defRPr sz="1300" b="1">
                <a:solidFill>
                  <a:srgbClr val="0F172A"/>
                </a:solidFill>
                <a:latin typeface="Arial"/>
              </a:defRPr>
            </a:pPr>
            <a:r>
              <a:t>Add Quick Details</a:t>
            </a:r>
          </a:p>
          <a:p>
            <a:pPr>
              <a:spcBef>
                <a:spcPts val="400"/>
              </a:spcBef>
              <a:spcAft>
                <a:spcPts val="800"/>
              </a:spcAft>
              <a:defRPr sz="1000" b="1">
                <a:solidFill>
                  <a:srgbClr val="0F6FBF"/>
                </a:solidFill>
                <a:latin typeface="Arial"/>
              </a:defRPr>
            </a:pPr>
            <a:r>
              <a:t>Step 2: Basic Info</a:t>
            </a:r>
          </a:p>
          <a:p>
            <a:pPr>
              <a:defRPr sz="1100">
                <a:solidFill>
                  <a:srgbClr val="475569"/>
                </a:solidFill>
                <a:latin typeface="Calibri"/>
              </a:defRPr>
            </a:pPr>
            <a:r>
              <a:t>Tell the system where the rash is (e.g. elbow, face, hand), how long you have had it, and if it feels itchy, burning, or painful.</a:t>
            </a:r>
          </a:p>
        </p:txBody>
      </p:sp>
      <p:sp>
        <p:nvSpPr>
          <p:cNvPr id="11" name="Rounded Rectangle 10"/>
          <p:cNvSpPr/>
          <p:nvPr/>
        </p:nvSpPr>
        <p:spPr>
          <a:xfrm>
            <a:off x="6181344" y="1783080"/>
            <a:ext cx="2542032" cy="3840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64224" y="2011680"/>
            <a:ext cx="594360" cy="594360"/>
          </a:xfrm>
          <a:prstGeom prst="ellipse">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rial"/>
              </a:defRPr>
            </a:pPr>
            <a:r>
              <a:t>3</a:t>
            </a:r>
          </a:p>
        </p:txBody>
      </p:sp>
      <p:sp>
        <p:nvSpPr>
          <p:cNvPr id="13" name="TextBox 12"/>
          <p:cNvSpPr txBox="1"/>
          <p:nvPr/>
        </p:nvSpPr>
        <p:spPr>
          <a:xfrm>
            <a:off x="6364224" y="2743200"/>
            <a:ext cx="2176272" cy="2651760"/>
          </a:xfrm>
          <a:prstGeom prst="rect">
            <a:avLst/>
          </a:prstGeom>
          <a:noFill/>
        </p:spPr>
        <p:txBody>
          <a:bodyPr wrap="square">
            <a:spAutoFit/>
          </a:bodyPr>
          <a:lstStyle/>
          <a:p>
            <a:pPr>
              <a:defRPr sz="1300" b="1">
                <a:solidFill>
                  <a:srgbClr val="0F172A"/>
                </a:solidFill>
                <a:latin typeface="Arial"/>
              </a:defRPr>
            </a:pPr>
            <a:r>
              <a:t>Smart AI Checks It</a:t>
            </a:r>
          </a:p>
          <a:p>
            <a:pPr>
              <a:spcBef>
                <a:spcPts val="400"/>
              </a:spcBef>
              <a:spcAft>
                <a:spcPts val="800"/>
              </a:spcAft>
              <a:defRPr sz="1000" b="1">
                <a:solidFill>
                  <a:srgbClr val="0F6FBF"/>
                </a:solidFill>
                <a:latin typeface="Arial"/>
              </a:defRPr>
            </a:pPr>
            <a:r>
              <a:t>Step 3: Instant Analysis</a:t>
            </a:r>
          </a:p>
          <a:p>
            <a:pPr>
              <a:defRPr sz="1100">
                <a:solidFill>
                  <a:srgbClr val="475569"/>
                </a:solidFill>
                <a:latin typeface="Calibri"/>
              </a:defRPr>
            </a:pPr>
            <a:r>
              <a:t>Smart artificial intelligence looks at the color, edges, surface texture, and rash pattern to see what condition it matches best.</a:t>
            </a:r>
          </a:p>
        </p:txBody>
      </p:sp>
      <p:sp>
        <p:nvSpPr>
          <p:cNvPr id="14" name="Rounded Rectangle 13"/>
          <p:cNvSpPr/>
          <p:nvPr/>
        </p:nvSpPr>
        <p:spPr>
          <a:xfrm>
            <a:off x="8906256" y="1783080"/>
            <a:ext cx="2542032" cy="3840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89136" y="2011680"/>
            <a:ext cx="594360" cy="594360"/>
          </a:xfrm>
          <a:prstGeom prst="ellipse">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rial"/>
              </a:defRPr>
            </a:pPr>
            <a:r>
              <a:t>4</a:t>
            </a:r>
          </a:p>
        </p:txBody>
      </p:sp>
      <p:sp>
        <p:nvSpPr>
          <p:cNvPr id="16" name="TextBox 15"/>
          <p:cNvSpPr txBox="1"/>
          <p:nvPr/>
        </p:nvSpPr>
        <p:spPr>
          <a:xfrm>
            <a:off x="9089136" y="2743200"/>
            <a:ext cx="2176272" cy="2651760"/>
          </a:xfrm>
          <a:prstGeom prst="rect">
            <a:avLst/>
          </a:prstGeom>
          <a:noFill/>
        </p:spPr>
        <p:txBody>
          <a:bodyPr wrap="square">
            <a:spAutoFit/>
          </a:bodyPr>
          <a:lstStyle/>
          <a:p>
            <a:pPr>
              <a:defRPr sz="1300" b="1">
                <a:solidFill>
                  <a:srgbClr val="0F172A"/>
                </a:solidFill>
                <a:latin typeface="Arial"/>
              </a:defRPr>
            </a:pPr>
            <a:r>
              <a:t>Get a Clear Report</a:t>
            </a:r>
          </a:p>
          <a:p>
            <a:pPr>
              <a:spcBef>
                <a:spcPts val="400"/>
              </a:spcBef>
              <a:spcAft>
                <a:spcPts val="800"/>
              </a:spcAft>
              <a:defRPr sz="1000" b="1">
                <a:solidFill>
                  <a:srgbClr val="0F6FBF"/>
                </a:solidFill>
                <a:latin typeface="Arial"/>
              </a:defRPr>
            </a:pPr>
            <a:r>
              <a:t>Step 4: Helpful Guidance</a:t>
            </a:r>
          </a:p>
          <a:p>
            <a:pPr>
              <a:defRPr sz="1100">
                <a:solidFill>
                  <a:srgbClr val="475569"/>
                </a:solidFill>
                <a:latin typeface="Calibri"/>
              </a:defRPr>
            </a:pPr>
            <a:r>
              <a:t>See the most likely condition with a simple percentage match, safe home-care tips (like moisturizing), and what to avoid.</a:t>
            </a:r>
          </a:p>
        </p:txBody>
      </p:sp>
      <p:sp>
        <p:nvSpPr>
          <p:cNvPr id="17" name="Rounded Rectangle 16"/>
          <p:cNvSpPr/>
          <p:nvPr/>
        </p:nvSpPr>
        <p:spPr>
          <a:xfrm>
            <a:off x="731520" y="5806440"/>
            <a:ext cx="10728655" cy="59436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F6FBF"/>
                </a:solidFill>
                <a:latin typeface="Arial"/>
              </a:defRPr>
            </a:pPr>
            <a:r>
              <a:t>The Goal: Less confusion. Safe home-care tips. Knowing immediately when you need to see a doctor in person.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Three Core Parts of the DermoScan System</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Designed to be simple for anyone to use, helpful for clinicians, and completely private.</a:t>
            </a:r>
          </a:p>
        </p:txBody>
      </p:sp>
      <p:sp>
        <p:nvSpPr>
          <p:cNvPr id="5" name="Rounded Rectangle 4"/>
          <p:cNvSpPr/>
          <p:nvPr/>
        </p:nvSpPr>
        <p:spPr>
          <a:xfrm>
            <a:off x="731520" y="1783080"/>
            <a:ext cx="3429000" cy="4617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112" y="1920240"/>
            <a:ext cx="3099816" cy="77724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6FBF"/>
                </a:solidFill>
                <a:latin typeface="Arial"/>
              </a:defRPr>
            </a:pPr>
            <a:r>
              <a:t>1. Easy Photo &amp; Details Intake</a:t>
            </a:r>
          </a:p>
          <a:p>
            <a:pPr>
              <a:defRPr sz="1000">
                <a:solidFill>
                  <a:srgbClr val="475569"/>
                </a:solidFill>
                <a:latin typeface="Calibri"/>
              </a:defRPr>
            </a:pPr>
            <a:r>
              <a:t>Collects what is needed in seconds</a:t>
            </a:r>
          </a:p>
        </p:txBody>
      </p:sp>
      <p:sp>
        <p:nvSpPr>
          <p:cNvPr id="7" name="TextBox 6"/>
          <p:cNvSpPr txBox="1"/>
          <p:nvPr/>
        </p:nvSpPr>
        <p:spPr>
          <a:xfrm>
            <a:off x="914400" y="2834640"/>
            <a:ext cx="3063240" cy="3383280"/>
          </a:xfrm>
          <a:prstGeom prst="rect">
            <a:avLst/>
          </a:prstGeom>
          <a:noFill/>
        </p:spPr>
        <p:txBody>
          <a:bodyPr wrap="square">
            <a:spAutoFit/>
          </a:bodyPr>
          <a:lstStyle/>
          <a:p>
            <a:pPr>
              <a:spcAft>
                <a:spcPts val="700"/>
              </a:spcAft>
              <a:defRPr sz="1050">
                <a:solidFill>
                  <a:srgbClr val="0F172A"/>
                </a:solidFill>
                <a:latin typeface="Calibri"/>
              </a:defRPr>
            </a:pPr>
            <a:r>
              <a:t>•  Drag and drop any picture (JPG, PNG, WebP) from phone or laptop</a:t>
            </a:r>
          </a:p>
          <a:p>
            <a:pPr>
              <a:spcAft>
                <a:spcPts val="700"/>
              </a:spcAft>
              <a:defRPr sz="1050">
                <a:solidFill>
                  <a:srgbClr val="0F172A"/>
                </a:solidFill>
                <a:latin typeface="Calibri"/>
              </a:defRPr>
            </a:pPr>
            <a:r>
              <a:t>•  Automatically resizes large photos so it works fast even on slow 4G</a:t>
            </a:r>
          </a:p>
          <a:p>
            <a:pPr>
              <a:spcAft>
                <a:spcPts val="700"/>
              </a:spcAft>
              <a:defRPr sz="1050">
                <a:solidFill>
                  <a:srgbClr val="0F172A"/>
                </a:solidFill>
                <a:latin typeface="Calibri"/>
              </a:defRPr>
            </a:pPr>
            <a:r>
              <a:t>•  16 simple body spots to pick from (elbow, face, scalp, hands, etc.)</a:t>
            </a:r>
          </a:p>
          <a:p>
            <a:pPr>
              <a:spcAft>
                <a:spcPts val="700"/>
              </a:spcAft>
              <a:defRPr sz="1050">
                <a:solidFill>
                  <a:srgbClr val="0F172A"/>
                </a:solidFill>
                <a:latin typeface="Calibri"/>
              </a:defRPr>
            </a:pPr>
            <a:r>
              <a:t>•  Tap buttons to say if it feels itchy, burning, painful, or tender</a:t>
            </a:r>
          </a:p>
          <a:p>
            <a:pPr>
              <a:spcAft>
                <a:spcPts val="700"/>
              </a:spcAft>
              <a:defRPr sz="1050">
                <a:solidFill>
                  <a:srgbClr val="0F172A"/>
                </a:solidFill>
                <a:latin typeface="Calibri"/>
              </a:defRPr>
            </a:pPr>
            <a:r>
              <a:t>•  Simple timeline choices: less than 1 week, 1-4 weeks, or months</a:t>
            </a:r>
          </a:p>
          <a:p>
            <a:pPr>
              <a:spcAft>
                <a:spcPts val="700"/>
              </a:spcAft>
              <a:defRPr sz="1050">
                <a:solidFill>
                  <a:srgbClr val="0F172A"/>
                </a:solidFill>
                <a:latin typeface="Calibri"/>
              </a:defRPr>
            </a:pPr>
            <a:r>
              <a:t>•  Calibrated for all skin tones from light to dark</a:t>
            </a:r>
          </a:p>
        </p:txBody>
      </p:sp>
      <p:sp>
        <p:nvSpPr>
          <p:cNvPr id="8" name="Rounded Rectangle 7"/>
          <p:cNvSpPr/>
          <p:nvPr/>
        </p:nvSpPr>
        <p:spPr>
          <a:xfrm>
            <a:off x="4379976" y="1783080"/>
            <a:ext cx="3429000" cy="4617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44568" y="1920240"/>
            <a:ext cx="3099816" cy="77724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6FBF"/>
                </a:solidFill>
                <a:latin typeface="Arial"/>
              </a:defRPr>
            </a:pPr>
            <a:r>
              <a:t>2. Smart AI Results Dossier</a:t>
            </a:r>
          </a:p>
          <a:p>
            <a:pPr>
              <a:defRPr sz="1000">
                <a:solidFill>
                  <a:srgbClr val="475569"/>
                </a:solidFill>
                <a:latin typeface="Calibri"/>
              </a:defRPr>
            </a:pPr>
            <a:r>
              <a:t>Clear, understandable findings</a:t>
            </a:r>
          </a:p>
        </p:txBody>
      </p:sp>
      <p:sp>
        <p:nvSpPr>
          <p:cNvPr id="10" name="TextBox 9"/>
          <p:cNvSpPr txBox="1"/>
          <p:nvPr/>
        </p:nvSpPr>
        <p:spPr>
          <a:xfrm>
            <a:off x="4562856" y="2834640"/>
            <a:ext cx="3063240" cy="3383280"/>
          </a:xfrm>
          <a:prstGeom prst="rect">
            <a:avLst/>
          </a:prstGeom>
          <a:noFill/>
        </p:spPr>
        <p:txBody>
          <a:bodyPr wrap="square">
            <a:spAutoFit/>
          </a:bodyPr>
          <a:lstStyle/>
          <a:p>
            <a:pPr>
              <a:spcAft>
                <a:spcPts val="700"/>
              </a:spcAft>
              <a:defRPr sz="1050">
                <a:solidFill>
                  <a:srgbClr val="0F172A"/>
                </a:solidFill>
                <a:latin typeface="Calibri"/>
              </a:defRPr>
            </a:pPr>
            <a:r>
              <a:t>•  Identifies conditions clearly (Psoriasis, Eczema, Ringworm, etc.)</a:t>
            </a:r>
          </a:p>
          <a:p>
            <a:pPr>
              <a:spcAft>
                <a:spcPts val="700"/>
              </a:spcAft>
              <a:defRPr sz="1050">
                <a:solidFill>
                  <a:srgbClr val="0F172A"/>
                </a:solidFill>
                <a:latin typeface="Calibri"/>
              </a:defRPr>
            </a:pPr>
            <a:r>
              <a:t>•  Shows a friendly match score (e.g. 89% match) in calm blue</a:t>
            </a:r>
          </a:p>
          <a:p>
            <a:pPr>
              <a:spcAft>
                <a:spcPts val="700"/>
              </a:spcAft>
              <a:defRPr sz="1050">
                <a:solidFill>
                  <a:srgbClr val="0F172A"/>
                </a:solidFill>
                <a:latin typeface="Calibri"/>
              </a:defRPr>
            </a:pPr>
            <a:r>
              <a:t>•  Breaks down the rash into 4 simple signs: shape, color, edges, spot</a:t>
            </a:r>
          </a:p>
          <a:p>
            <a:pPr>
              <a:spcAft>
                <a:spcPts val="700"/>
              </a:spcAft>
              <a:defRPr sz="1050">
                <a:solidFill>
                  <a:srgbClr val="0F172A"/>
                </a:solidFill>
                <a:latin typeface="Calibri"/>
              </a:defRPr>
            </a:pPr>
            <a:r>
              <a:t>•  Lists other possible conditions just in case (differential diagnosis)</a:t>
            </a:r>
          </a:p>
          <a:p>
            <a:pPr>
              <a:spcAft>
                <a:spcPts val="700"/>
              </a:spcAft>
              <a:defRPr sz="1050">
                <a:solidFill>
                  <a:srgbClr val="0F172A"/>
                </a:solidFill>
                <a:latin typeface="Calibri"/>
              </a:defRPr>
            </a:pPr>
            <a:r>
              <a:t>•  Gives clear, safe self-care tips (e.g. which moisturizer to use)</a:t>
            </a:r>
          </a:p>
          <a:p>
            <a:pPr>
              <a:spcAft>
                <a:spcPts val="700"/>
              </a:spcAft>
              <a:defRPr sz="1050">
                <a:solidFill>
                  <a:srgbClr val="0F172A"/>
                </a:solidFill>
                <a:latin typeface="Calibri"/>
              </a:defRPr>
            </a:pPr>
            <a:r>
              <a:t>•  Warns against using wrong creams (e.g. don't put steroids on fungus)</a:t>
            </a:r>
          </a:p>
        </p:txBody>
      </p:sp>
      <p:sp>
        <p:nvSpPr>
          <p:cNvPr id="11" name="Rounded Rectangle 10"/>
          <p:cNvSpPr/>
          <p:nvPr/>
        </p:nvSpPr>
        <p:spPr>
          <a:xfrm>
            <a:off x="8028432" y="1783080"/>
            <a:ext cx="3429000" cy="4617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93024" y="1920240"/>
            <a:ext cx="3099816" cy="77724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6FBF"/>
                </a:solidFill>
                <a:latin typeface="Arial"/>
              </a:defRPr>
            </a:pPr>
            <a:r>
              <a:t>3. Complete Safety &amp; Privacy</a:t>
            </a:r>
          </a:p>
          <a:p>
            <a:pPr>
              <a:defRPr sz="1000">
                <a:solidFill>
                  <a:srgbClr val="475569"/>
                </a:solidFill>
                <a:latin typeface="Calibri"/>
              </a:defRPr>
            </a:pPr>
            <a:r>
              <a:t>Keeps your data safe &amp; private</a:t>
            </a:r>
          </a:p>
        </p:txBody>
      </p:sp>
      <p:sp>
        <p:nvSpPr>
          <p:cNvPr id="13" name="TextBox 12"/>
          <p:cNvSpPr txBox="1"/>
          <p:nvPr/>
        </p:nvSpPr>
        <p:spPr>
          <a:xfrm>
            <a:off x="8211312" y="2834640"/>
            <a:ext cx="3063240" cy="3383280"/>
          </a:xfrm>
          <a:prstGeom prst="rect">
            <a:avLst/>
          </a:prstGeom>
          <a:noFill/>
        </p:spPr>
        <p:txBody>
          <a:bodyPr wrap="square">
            <a:spAutoFit/>
          </a:bodyPr>
          <a:lstStyle/>
          <a:p>
            <a:pPr>
              <a:spcAft>
                <a:spcPts val="700"/>
              </a:spcAft>
              <a:defRPr sz="1050">
                <a:solidFill>
                  <a:srgbClr val="0F172A"/>
                </a:solidFill>
                <a:latin typeface="Calibri"/>
              </a:defRPr>
            </a:pPr>
            <a:r>
              <a:t>•  Your photos are NEVER saved to any online server (100% private)</a:t>
            </a:r>
          </a:p>
          <a:p>
            <a:pPr>
              <a:spcAft>
                <a:spcPts val="700"/>
              </a:spcAft>
              <a:defRPr sz="1050">
                <a:solidFill>
                  <a:srgbClr val="0F172A"/>
                </a:solidFill>
                <a:latin typeface="Calibri"/>
              </a:defRPr>
            </a:pPr>
            <a:r>
              <a:t>•  Keeps a scan history only on your own screen while you use it</a:t>
            </a:r>
          </a:p>
          <a:p>
            <a:pPr>
              <a:spcAft>
                <a:spcPts val="700"/>
              </a:spcAft>
              <a:defRPr sz="1050">
                <a:solidFill>
                  <a:srgbClr val="0F172A"/>
                </a:solidFill>
                <a:latin typeface="Calibri"/>
              </a:defRPr>
            </a:pPr>
            <a:r>
              <a:t>•  One-click to re-open any past scan from your current session</a:t>
            </a:r>
          </a:p>
          <a:p>
            <a:pPr>
              <a:spcAft>
                <a:spcPts val="700"/>
              </a:spcAft>
              <a:defRPr sz="1050">
                <a:solidFill>
                  <a:srgbClr val="0F172A"/>
                </a:solidFill>
                <a:latin typeface="Calibri"/>
              </a:defRPr>
            </a:pPr>
            <a:r>
              <a:t>•  Rejects blurry photos or non-skin pictures automatically</a:t>
            </a:r>
          </a:p>
          <a:p>
            <a:pPr>
              <a:spcAft>
                <a:spcPts val="700"/>
              </a:spcAft>
              <a:defRPr sz="1050">
                <a:solidFill>
                  <a:srgbClr val="0F172A"/>
                </a:solidFill>
                <a:latin typeface="Calibri"/>
              </a:defRPr>
            </a:pPr>
            <a:r>
              <a:t>•  Warns immediately if a rash looks like an emergency (e.g. Cellulitis)</a:t>
            </a:r>
          </a:p>
          <a:p>
            <a:pPr>
              <a:spcAft>
                <a:spcPts val="700"/>
              </a:spcAft>
              <a:defRPr sz="1050">
                <a:solidFill>
                  <a:srgbClr val="0F172A"/>
                </a:solidFill>
                <a:latin typeface="Calibri"/>
              </a:defRPr>
            </a:pPr>
            <a:r>
              <a:t>•  Clear reminder that it is an assistant, not a final doctor prescription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Live App: Uploading a photo &amp; entering details</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A clean, simple screen where anyone can add their photo and describe how they feel.</a:t>
            </a:r>
          </a:p>
        </p:txBody>
      </p:sp>
      <p:sp>
        <p:nvSpPr>
          <p:cNvPr id="5" name="Rounded Rectangle 4"/>
          <p:cNvSpPr/>
          <p:nvPr/>
        </p:nvSpPr>
        <p:spPr>
          <a:xfrm>
            <a:off x="731520" y="1783080"/>
            <a:ext cx="6858000" cy="4114800"/>
          </a:xfrm>
          <a:prstGeom prst="roundRect">
            <a:avLst/>
          </a:prstGeom>
          <a:solidFill>
            <a:srgbClr val="F1F5F9"/>
          </a:solidFill>
          <a:ln w="25400">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dia_1793280759910_fa29019d.png"/>
          <p:cNvPicPr>
            <a:picLocks noChangeAspect="1"/>
          </p:cNvPicPr>
          <p:nvPr/>
        </p:nvPicPr>
        <p:blipFill>
          <a:blip r:embed="rId2"/>
          <a:stretch>
            <a:fillRect/>
          </a:stretch>
        </p:blipFill>
        <p:spPr>
          <a:xfrm>
            <a:off x="777240" y="1828800"/>
            <a:ext cx="6766560" cy="3806190"/>
          </a:xfrm>
          <a:prstGeom prst="rect">
            <a:avLst/>
          </a:prstGeom>
        </p:spPr>
      </p:pic>
      <p:sp>
        <p:nvSpPr>
          <p:cNvPr id="7" name="TextBox 6"/>
          <p:cNvSpPr txBox="1"/>
          <p:nvPr/>
        </p:nvSpPr>
        <p:spPr>
          <a:xfrm>
            <a:off x="731520" y="5989320"/>
            <a:ext cx="6858000" cy="365760"/>
          </a:xfrm>
          <a:prstGeom prst="rect">
            <a:avLst/>
          </a:prstGeom>
          <a:noFill/>
        </p:spPr>
        <p:txBody>
          <a:bodyPr wrap="none">
            <a:spAutoFit/>
          </a:bodyPr>
          <a:lstStyle/>
          <a:p>
            <a:pPr>
              <a:defRPr sz="1000" i="1">
                <a:solidFill>
                  <a:srgbClr val="475569"/>
                </a:solidFill>
                <a:latin typeface="Arial"/>
              </a:defRPr>
            </a:pPr>
            <a:r>
              <a:t>Photo 1: Live Intake Screen at dermo-scan-nesn.vercel.app</a:t>
            </a:r>
          </a:p>
        </p:txBody>
      </p:sp>
      <p:sp>
        <p:nvSpPr>
          <p:cNvPr id="8" name="Rounded Rectangle 7"/>
          <p:cNvSpPr/>
          <p:nvPr/>
        </p:nvSpPr>
        <p:spPr>
          <a:xfrm>
            <a:off x="7818120" y="1783080"/>
            <a:ext cx="3639312" cy="960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F6FBF"/>
                </a:solidFill>
                <a:latin typeface="Arial"/>
              </a:defRPr>
            </a:pPr>
            <a:r>
              <a:t>1. Upload Box</a:t>
            </a:r>
          </a:p>
          <a:p>
            <a:pPr>
              <a:spcBef>
                <a:spcPts val="300"/>
              </a:spcBef>
              <a:defRPr sz="1000">
                <a:solidFill>
                  <a:srgbClr val="0F172A"/>
                </a:solidFill>
                <a:latin typeface="Calibri"/>
              </a:defRPr>
            </a:pPr>
            <a:r>
              <a:t>Drag any skin photo here or tap to choose from your phone gallery. See a live preview immediately.</a:t>
            </a:r>
          </a:p>
        </p:txBody>
      </p:sp>
      <p:sp>
        <p:nvSpPr>
          <p:cNvPr id="9" name="Rounded Rectangle 8"/>
          <p:cNvSpPr/>
          <p:nvPr/>
        </p:nvSpPr>
        <p:spPr>
          <a:xfrm>
            <a:off x="7818120" y="2834640"/>
            <a:ext cx="3639312" cy="960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F6FBF"/>
                </a:solidFill>
                <a:latin typeface="Arial"/>
              </a:defRPr>
            </a:pPr>
            <a:r>
              <a:t>2. Body Spot Dropdown</a:t>
            </a:r>
          </a:p>
          <a:p>
            <a:pPr>
              <a:spcBef>
                <a:spcPts val="300"/>
              </a:spcBef>
              <a:defRPr sz="1000">
                <a:solidFill>
                  <a:srgbClr val="0F172A"/>
                </a:solidFill>
                <a:latin typeface="Calibri"/>
              </a:defRPr>
            </a:pPr>
            <a:r>
              <a:t>Easily pick where the rash is located from a list of 16 common spots (like elbow, knee, or face).</a:t>
            </a:r>
          </a:p>
        </p:txBody>
      </p:sp>
      <p:sp>
        <p:nvSpPr>
          <p:cNvPr id="10" name="Rounded Rectangle 9"/>
          <p:cNvSpPr/>
          <p:nvPr/>
        </p:nvSpPr>
        <p:spPr>
          <a:xfrm>
            <a:off x="7818120" y="3886200"/>
            <a:ext cx="3639312" cy="960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F6FBF"/>
                </a:solidFill>
                <a:latin typeface="Arial"/>
              </a:defRPr>
            </a:pPr>
            <a:r>
              <a:t>3. Sensation Buttons</a:t>
            </a:r>
          </a:p>
          <a:p>
            <a:pPr>
              <a:spcBef>
                <a:spcPts val="300"/>
              </a:spcBef>
              <a:defRPr sz="1000">
                <a:solidFill>
                  <a:srgbClr val="0F172A"/>
                </a:solidFill>
                <a:latin typeface="Calibri"/>
              </a:defRPr>
            </a:pPr>
            <a:r>
              <a:t>Tap quick buttons to select feelings: Itchy, Painful, Burning, Tender, or Numb.</a:t>
            </a:r>
          </a:p>
        </p:txBody>
      </p:sp>
      <p:sp>
        <p:nvSpPr>
          <p:cNvPr id="11" name="Rounded Rectangle 10"/>
          <p:cNvSpPr/>
          <p:nvPr/>
        </p:nvSpPr>
        <p:spPr>
          <a:xfrm>
            <a:off x="7818120" y="4937760"/>
            <a:ext cx="3639312" cy="960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F6FBF"/>
                </a:solidFill>
                <a:latin typeface="Arial"/>
              </a:defRPr>
            </a:pPr>
            <a:r>
              <a:t>4. Run Scan Button</a:t>
            </a:r>
          </a:p>
          <a:p>
            <a:pPr>
              <a:spcBef>
                <a:spcPts val="300"/>
              </a:spcBef>
              <a:defRPr sz="1000">
                <a:solidFill>
                  <a:srgbClr val="0F172A"/>
                </a:solidFill>
                <a:latin typeface="Calibri"/>
              </a:defRPr>
            </a:pPr>
            <a:r>
              <a:t>Click 'Run Diagnostic Scan' and the AI starts analyzing. Takes less than a second to finish.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Live App: Clear AI results and safe next steps</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A sample result showing an 89% match for Psoriasis with clear explanations.</a:t>
            </a:r>
          </a:p>
        </p:txBody>
      </p:sp>
      <p:sp>
        <p:nvSpPr>
          <p:cNvPr id="5" name="Rounded Rectangle 4"/>
          <p:cNvSpPr/>
          <p:nvPr/>
        </p:nvSpPr>
        <p:spPr>
          <a:xfrm>
            <a:off x="731520" y="1783080"/>
            <a:ext cx="6858000" cy="4114800"/>
          </a:xfrm>
          <a:prstGeom prst="roundRect">
            <a:avLst/>
          </a:prstGeom>
          <a:solidFill>
            <a:srgbClr val="F1F5F9"/>
          </a:solidFill>
          <a:ln w="25400">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dia_1793280759965_157a41a0.png"/>
          <p:cNvPicPr>
            <a:picLocks noChangeAspect="1"/>
          </p:cNvPicPr>
          <p:nvPr/>
        </p:nvPicPr>
        <p:blipFill>
          <a:blip r:embed="rId2"/>
          <a:stretch>
            <a:fillRect/>
          </a:stretch>
        </p:blipFill>
        <p:spPr>
          <a:xfrm>
            <a:off x="777240" y="1828800"/>
            <a:ext cx="6766560" cy="3806190"/>
          </a:xfrm>
          <a:prstGeom prst="rect">
            <a:avLst/>
          </a:prstGeom>
        </p:spPr>
      </p:pic>
      <p:sp>
        <p:nvSpPr>
          <p:cNvPr id="7" name="TextBox 6"/>
          <p:cNvSpPr txBox="1"/>
          <p:nvPr/>
        </p:nvSpPr>
        <p:spPr>
          <a:xfrm>
            <a:off x="731520" y="5989320"/>
            <a:ext cx="6858000" cy="365760"/>
          </a:xfrm>
          <a:prstGeom prst="rect">
            <a:avLst/>
          </a:prstGeom>
          <a:noFill/>
        </p:spPr>
        <p:txBody>
          <a:bodyPr wrap="none">
            <a:spAutoFit/>
          </a:bodyPr>
          <a:lstStyle/>
          <a:p>
            <a:pPr>
              <a:defRPr sz="1000" i="1">
                <a:solidFill>
                  <a:srgbClr val="475569"/>
                </a:solidFill>
                <a:latin typeface="Arial"/>
              </a:defRPr>
            </a:pPr>
            <a:r>
              <a:t>Photo 2: Live Results Screen showing Psoriasis Vulgaris detected with 89% AI match.</a:t>
            </a:r>
          </a:p>
        </p:txBody>
      </p:sp>
      <p:sp>
        <p:nvSpPr>
          <p:cNvPr id="8" name="Rounded Rectangle 7"/>
          <p:cNvSpPr/>
          <p:nvPr/>
        </p:nvSpPr>
        <p:spPr>
          <a:xfrm>
            <a:off x="7818120" y="1783080"/>
            <a:ext cx="3639312" cy="960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F6FBF"/>
                </a:solidFill>
                <a:latin typeface="Arial"/>
              </a:defRPr>
            </a:pPr>
            <a:r>
              <a:t>1. Clear Name &amp; Code</a:t>
            </a:r>
          </a:p>
          <a:p>
            <a:pPr>
              <a:spcBef>
                <a:spcPts val="300"/>
              </a:spcBef>
              <a:defRPr sz="1000">
                <a:solidFill>
                  <a:srgbClr val="0F172A"/>
                </a:solidFill>
                <a:latin typeface="Calibri"/>
              </a:defRPr>
            </a:pPr>
            <a:r>
              <a:t>Clearly names the condition: 'Psoriasis Vulgaris' with its official medical code (L40.0).</a:t>
            </a:r>
          </a:p>
        </p:txBody>
      </p:sp>
      <p:sp>
        <p:nvSpPr>
          <p:cNvPr id="9" name="Rounded Rectangle 8"/>
          <p:cNvSpPr/>
          <p:nvPr/>
        </p:nvSpPr>
        <p:spPr>
          <a:xfrm>
            <a:off x="7818120" y="2834640"/>
            <a:ext cx="3639312" cy="960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F6FBF"/>
                </a:solidFill>
                <a:latin typeface="Arial"/>
              </a:defRPr>
            </a:pPr>
            <a:r>
              <a:t>2. Simple Match Percentage</a:t>
            </a:r>
          </a:p>
          <a:p>
            <a:pPr>
              <a:spcBef>
                <a:spcPts val="300"/>
              </a:spcBef>
              <a:defRPr sz="1000">
                <a:solidFill>
                  <a:srgbClr val="0F172A"/>
                </a:solidFill>
                <a:latin typeface="Calibri"/>
              </a:defRPr>
            </a:pPr>
            <a:r>
              <a:t>Shows '89% AI Pattern Confidence' using a calm blue bar instead of stressful red warning bars.</a:t>
            </a:r>
          </a:p>
        </p:txBody>
      </p:sp>
      <p:sp>
        <p:nvSpPr>
          <p:cNvPr id="10" name="Rounded Rectangle 9"/>
          <p:cNvSpPr/>
          <p:nvPr/>
        </p:nvSpPr>
        <p:spPr>
          <a:xfrm>
            <a:off x="7818120" y="3886200"/>
            <a:ext cx="3639312" cy="960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F6FBF"/>
                </a:solidFill>
                <a:latin typeface="Arial"/>
              </a:defRPr>
            </a:pPr>
            <a:r>
              <a:t>3. 4-Point Explanation</a:t>
            </a:r>
          </a:p>
          <a:p>
            <a:pPr>
              <a:spcBef>
                <a:spcPts val="300"/>
              </a:spcBef>
              <a:defRPr sz="1000">
                <a:solidFill>
                  <a:srgbClr val="0F172A"/>
                </a:solidFill>
                <a:latin typeface="Calibri"/>
              </a:defRPr>
            </a:pPr>
            <a:r>
              <a:t>Breaks down what it saw: raised red plaques, silvery white scales, sharp edges, on outside elbows.</a:t>
            </a:r>
          </a:p>
        </p:txBody>
      </p:sp>
      <p:sp>
        <p:nvSpPr>
          <p:cNvPr id="11" name="Rounded Rectangle 10"/>
          <p:cNvSpPr/>
          <p:nvPr/>
        </p:nvSpPr>
        <p:spPr>
          <a:xfrm>
            <a:off x="7818120" y="4937760"/>
            <a:ext cx="3639312" cy="960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F6FBF"/>
                </a:solidFill>
                <a:latin typeface="Arial"/>
              </a:defRPr>
            </a:pPr>
            <a:r>
              <a:t>4. What To Do &amp; What To Avoid</a:t>
            </a:r>
          </a:p>
          <a:p>
            <a:pPr>
              <a:spcBef>
                <a:spcPts val="300"/>
              </a:spcBef>
              <a:defRPr sz="1000">
                <a:solidFill>
                  <a:srgbClr val="0F172A"/>
                </a:solidFill>
                <a:latin typeface="Calibri"/>
              </a:defRPr>
            </a:pPr>
            <a:r>
              <a:t>Recommends gentle moisturizers and warns against misusing steroid creams before a doctor check.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How the AI looks at skin: 4 Key Visual Signs</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Instead of a mysterious black box, DermoScan explains its thinking using 4 basic signs.</a:t>
            </a:r>
          </a:p>
        </p:txBody>
      </p:sp>
      <p:sp>
        <p:nvSpPr>
          <p:cNvPr id="5" name="Rounded Rectangle 4"/>
          <p:cNvSpPr/>
          <p:nvPr/>
        </p:nvSpPr>
        <p:spPr>
          <a:xfrm>
            <a:off x="731520" y="1783080"/>
            <a:ext cx="5212080" cy="2057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947672"/>
            <a:ext cx="1005840" cy="292608"/>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SIGN 1</a:t>
            </a:r>
          </a:p>
        </p:txBody>
      </p:sp>
      <p:sp>
        <p:nvSpPr>
          <p:cNvPr id="7" name="TextBox 6"/>
          <p:cNvSpPr txBox="1"/>
          <p:nvPr/>
        </p:nvSpPr>
        <p:spPr>
          <a:xfrm>
            <a:off x="914400" y="2313432"/>
            <a:ext cx="4846320" cy="1463040"/>
          </a:xfrm>
          <a:prstGeom prst="rect">
            <a:avLst/>
          </a:prstGeom>
          <a:noFill/>
        </p:spPr>
        <p:txBody>
          <a:bodyPr wrap="square">
            <a:spAutoFit/>
          </a:bodyPr>
          <a:lstStyle/>
          <a:p>
            <a:pPr>
              <a:defRPr sz="1300" b="1">
                <a:solidFill>
                  <a:srgbClr val="0F172A"/>
                </a:solidFill>
                <a:latin typeface="Arial"/>
              </a:defRPr>
            </a:pPr>
            <a:r>
              <a:t>What type of bump or rash is it?</a:t>
            </a:r>
          </a:p>
          <a:p>
            <a:pPr>
              <a:spcBef>
                <a:spcPts val="300"/>
              </a:spcBef>
              <a:defRPr sz="1050">
                <a:solidFill>
                  <a:srgbClr val="0F172A"/>
                </a:solidFill>
                <a:latin typeface="Calibri"/>
              </a:defRPr>
            </a:pPr>
            <a:r>
              <a:t>Looks at the surface: Is it a raised thick patch (plaque), a flat red spot (macule), or small water blisters (vesicles)?</a:t>
            </a:r>
          </a:p>
          <a:p>
            <a:pPr>
              <a:spcBef>
                <a:spcPts val="300"/>
              </a:spcBef>
              <a:defRPr sz="1000" b="1">
                <a:solidFill>
                  <a:srgbClr val="0F6FBF"/>
                </a:solidFill>
                <a:latin typeface="Calibri"/>
              </a:defRPr>
            </a:pPr>
            <a:r>
              <a:t>•  Why it matters: Tells apart raised psoriasis from flat allergies and small fluid blisters.</a:t>
            </a:r>
          </a:p>
        </p:txBody>
      </p:sp>
      <p:sp>
        <p:nvSpPr>
          <p:cNvPr id="8" name="Rounded Rectangle 7"/>
          <p:cNvSpPr/>
          <p:nvPr/>
        </p:nvSpPr>
        <p:spPr>
          <a:xfrm>
            <a:off x="6217920" y="1783080"/>
            <a:ext cx="5212080" cy="2057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0" y="1947672"/>
            <a:ext cx="1005840" cy="292608"/>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SIGN 2</a:t>
            </a:r>
          </a:p>
        </p:txBody>
      </p:sp>
      <p:sp>
        <p:nvSpPr>
          <p:cNvPr id="10" name="TextBox 9"/>
          <p:cNvSpPr txBox="1"/>
          <p:nvPr/>
        </p:nvSpPr>
        <p:spPr>
          <a:xfrm>
            <a:off x="6400800" y="2313432"/>
            <a:ext cx="4846320" cy="1463040"/>
          </a:xfrm>
          <a:prstGeom prst="rect">
            <a:avLst/>
          </a:prstGeom>
          <a:noFill/>
        </p:spPr>
        <p:txBody>
          <a:bodyPr wrap="square">
            <a:spAutoFit/>
          </a:bodyPr>
          <a:lstStyle/>
          <a:p>
            <a:pPr>
              <a:defRPr sz="1300" b="1">
                <a:solidFill>
                  <a:srgbClr val="0F172A"/>
                </a:solidFill>
                <a:latin typeface="Arial"/>
              </a:defRPr>
            </a:pPr>
            <a:r>
              <a:t>What color is the skin?</a:t>
            </a:r>
          </a:p>
          <a:p>
            <a:pPr>
              <a:spcBef>
                <a:spcPts val="300"/>
              </a:spcBef>
              <a:defRPr sz="1050">
                <a:solidFill>
                  <a:srgbClr val="0F172A"/>
                </a:solidFill>
                <a:latin typeface="Calibri"/>
              </a:defRPr>
            </a:pPr>
            <a:r>
              <a:t>Looks at the color: Is it salmon-pink, deep purple, brown, or pale with white silvery skin on top?</a:t>
            </a:r>
          </a:p>
          <a:p>
            <a:pPr>
              <a:spcBef>
                <a:spcPts val="300"/>
              </a:spcBef>
              <a:defRPr sz="1000" b="1">
                <a:solidFill>
                  <a:srgbClr val="0F6FBF"/>
                </a:solidFill>
                <a:latin typeface="Calibri"/>
              </a:defRPr>
            </a:pPr>
            <a:r>
              <a:t>•  Why it matters: Shows how irritated the skin is and helps diagnose properly on brown and dark skin tones.</a:t>
            </a:r>
          </a:p>
        </p:txBody>
      </p:sp>
      <p:sp>
        <p:nvSpPr>
          <p:cNvPr id="11" name="Rounded Rectangle 10"/>
          <p:cNvSpPr/>
          <p:nvPr/>
        </p:nvSpPr>
        <p:spPr>
          <a:xfrm>
            <a:off x="731520" y="4114800"/>
            <a:ext cx="5212080" cy="2057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4279392"/>
            <a:ext cx="1005840" cy="292608"/>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SIGN 3</a:t>
            </a:r>
          </a:p>
        </p:txBody>
      </p:sp>
      <p:sp>
        <p:nvSpPr>
          <p:cNvPr id="13" name="TextBox 12"/>
          <p:cNvSpPr txBox="1"/>
          <p:nvPr/>
        </p:nvSpPr>
        <p:spPr>
          <a:xfrm>
            <a:off x="914400" y="4645152"/>
            <a:ext cx="4846320" cy="1463040"/>
          </a:xfrm>
          <a:prstGeom prst="rect">
            <a:avLst/>
          </a:prstGeom>
          <a:noFill/>
        </p:spPr>
        <p:txBody>
          <a:bodyPr wrap="square">
            <a:spAutoFit/>
          </a:bodyPr>
          <a:lstStyle/>
          <a:p>
            <a:pPr>
              <a:defRPr sz="1300" b="1">
                <a:solidFill>
                  <a:srgbClr val="0F172A"/>
                </a:solidFill>
                <a:latin typeface="Arial"/>
              </a:defRPr>
            </a:pPr>
            <a:r>
              <a:t>Are the edges sharp or blurry?</a:t>
            </a:r>
          </a:p>
          <a:p>
            <a:pPr>
              <a:spcBef>
                <a:spcPts val="300"/>
              </a:spcBef>
              <a:defRPr sz="1050">
                <a:solidFill>
                  <a:srgbClr val="0F172A"/>
                </a:solidFill>
                <a:latin typeface="Calibri"/>
              </a:defRPr>
            </a:pPr>
            <a:r>
              <a:t>Looks at the borders: Are the edges sharp and clean, or are they blurry and fading into normal skin?</a:t>
            </a:r>
          </a:p>
          <a:p>
            <a:pPr>
              <a:spcBef>
                <a:spcPts val="300"/>
              </a:spcBef>
              <a:defRPr sz="1000" b="1">
                <a:solidFill>
                  <a:srgbClr val="0F6FBF"/>
                </a:solidFill>
                <a:latin typeface="Calibri"/>
              </a:defRPr>
            </a:pPr>
            <a:r>
              <a:t>•  Why it matters: Psoriasis almost always has sharp borders; eczema usually has blurry, fading edges.</a:t>
            </a:r>
          </a:p>
        </p:txBody>
      </p:sp>
      <p:sp>
        <p:nvSpPr>
          <p:cNvPr id="14" name="Rounded Rectangle 13"/>
          <p:cNvSpPr/>
          <p:nvPr/>
        </p:nvSpPr>
        <p:spPr>
          <a:xfrm>
            <a:off x="6217920" y="4114800"/>
            <a:ext cx="5212080" cy="2057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0" y="4279392"/>
            <a:ext cx="1005840" cy="292608"/>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SIGN 4</a:t>
            </a:r>
          </a:p>
        </p:txBody>
      </p:sp>
      <p:sp>
        <p:nvSpPr>
          <p:cNvPr id="16" name="TextBox 15"/>
          <p:cNvSpPr txBox="1"/>
          <p:nvPr/>
        </p:nvSpPr>
        <p:spPr>
          <a:xfrm>
            <a:off x="6400800" y="4645152"/>
            <a:ext cx="4846320" cy="1463040"/>
          </a:xfrm>
          <a:prstGeom prst="rect">
            <a:avLst/>
          </a:prstGeom>
          <a:noFill/>
        </p:spPr>
        <p:txBody>
          <a:bodyPr wrap="square">
            <a:spAutoFit/>
          </a:bodyPr>
          <a:lstStyle/>
          <a:p>
            <a:pPr>
              <a:defRPr sz="1300" b="1">
                <a:solidFill>
                  <a:srgbClr val="0F172A"/>
                </a:solidFill>
                <a:latin typeface="Arial"/>
              </a:defRPr>
            </a:pPr>
            <a:r>
              <a:t>Where is it located on the body?</a:t>
            </a:r>
          </a:p>
          <a:p>
            <a:pPr>
              <a:spcBef>
                <a:spcPts val="300"/>
              </a:spcBef>
              <a:defRPr sz="1050">
                <a:solidFill>
                  <a:srgbClr val="0F172A"/>
                </a:solidFill>
                <a:latin typeface="Calibri"/>
              </a:defRPr>
            </a:pPr>
            <a:r>
              <a:t>Looks at the spot: Is it on outer joints (elbows, knees), or inside folds (armpits, neck, behind knees)?</a:t>
            </a:r>
          </a:p>
          <a:p>
            <a:pPr>
              <a:spcBef>
                <a:spcPts val="300"/>
              </a:spcBef>
              <a:defRPr sz="1000" b="1">
                <a:solidFill>
                  <a:srgbClr val="0F6FBF"/>
                </a:solidFill>
                <a:latin typeface="Calibri"/>
              </a:defRPr>
            </a:pPr>
            <a:r>
              <a:t>•  Why it matters: Outer joints usually mean psoriasis; inner folds usually mean atopic eczema.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Common Skin Conditions DermoScan Can Identify</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Uses the same international medical codes (ICD-10) used by hospitals and clinics.</a:t>
            </a:r>
          </a:p>
        </p:txBody>
      </p:sp>
      <p:sp>
        <p:nvSpPr>
          <p:cNvPr id="5" name="Rounded Rectangle 4"/>
          <p:cNvSpPr/>
          <p:nvPr/>
        </p:nvSpPr>
        <p:spPr>
          <a:xfrm>
            <a:off x="731520" y="1783080"/>
            <a:ext cx="5212080" cy="12344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112" y="1947672"/>
            <a:ext cx="914400" cy="320040"/>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L40.0</a:t>
            </a:r>
          </a:p>
        </p:txBody>
      </p:sp>
      <p:sp>
        <p:nvSpPr>
          <p:cNvPr id="7" name="TextBox 6"/>
          <p:cNvSpPr txBox="1"/>
          <p:nvPr/>
        </p:nvSpPr>
        <p:spPr>
          <a:xfrm>
            <a:off x="1920240" y="1892808"/>
            <a:ext cx="3886200" cy="1051560"/>
          </a:xfrm>
          <a:prstGeom prst="rect">
            <a:avLst/>
          </a:prstGeom>
          <a:noFill/>
        </p:spPr>
        <p:txBody>
          <a:bodyPr wrap="square">
            <a:spAutoFit/>
          </a:bodyPr>
          <a:lstStyle/>
          <a:p>
            <a:pPr>
              <a:defRPr sz="1150" b="1">
                <a:solidFill>
                  <a:srgbClr val="0F172A"/>
                </a:solidFill>
                <a:latin typeface="Arial"/>
              </a:defRPr>
            </a:pPr>
            <a:r>
              <a:t>Plaque Psoriasis   (Very Common)</a:t>
            </a:r>
          </a:p>
          <a:p>
            <a:pPr>
              <a:spcBef>
                <a:spcPts val="200"/>
              </a:spcBef>
              <a:defRPr sz="1000" b="1">
                <a:solidFill>
                  <a:srgbClr val="0F6FBF"/>
                </a:solidFill>
                <a:latin typeface="Calibri"/>
              </a:defRPr>
            </a:pPr>
            <a:r>
              <a:t>Common spot: Elbows, knees, scalp</a:t>
            </a:r>
          </a:p>
          <a:p>
            <a:pPr>
              <a:spcBef>
                <a:spcPts val="200"/>
              </a:spcBef>
              <a:defRPr sz="950">
                <a:solidFill>
                  <a:srgbClr val="475569"/>
                </a:solidFill>
                <a:latin typeface="Calibri"/>
              </a:defRPr>
            </a:pPr>
            <a:r>
              <a:t>Signs: Red raised patches with silvery flaking scales that bleed if peeled.</a:t>
            </a:r>
          </a:p>
        </p:txBody>
      </p:sp>
      <p:sp>
        <p:nvSpPr>
          <p:cNvPr id="8" name="Rounded Rectangle 7"/>
          <p:cNvSpPr/>
          <p:nvPr/>
        </p:nvSpPr>
        <p:spPr>
          <a:xfrm>
            <a:off x="6217920" y="1783080"/>
            <a:ext cx="5212080" cy="12344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82512" y="1947672"/>
            <a:ext cx="914400" cy="320040"/>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L20.9</a:t>
            </a:r>
          </a:p>
        </p:txBody>
      </p:sp>
      <p:sp>
        <p:nvSpPr>
          <p:cNvPr id="10" name="TextBox 9"/>
          <p:cNvSpPr txBox="1"/>
          <p:nvPr/>
        </p:nvSpPr>
        <p:spPr>
          <a:xfrm>
            <a:off x="7406640" y="1892808"/>
            <a:ext cx="3886200" cy="1051560"/>
          </a:xfrm>
          <a:prstGeom prst="rect">
            <a:avLst/>
          </a:prstGeom>
          <a:noFill/>
        </p:spPr>
        <p:txBody>
          <a:bodyPr wrap="square">
            <a:spAutoFit/>
          </a:bodyPr>
          <a:lstStyle/>
          <a:p>
            <a:pPr>
              <a:defRPr sz="1150" b="1">
                <a:solidFill>
                  <a:srgbClr val="0F172A"/>
                </a:solidFill>
                <a:latin typeface="Arial"/>
              </a:defRPr>
            </a:pPr>
            <a:r>
              <a:t>Atopic Eczema   (Very Common)</a:t>
            </a:r>
          </a:p>
          <a:p>
            <a:pPr>
              <a:spcBef>
                <a:spcPts val="200"/>
              </a:spcBef>
              <a:defRPr sz="1000" b="1">
                <a:solidFill>
                  <a:srgbClr val="0F6FBF"/>
                </a:solidFill>
                <a:latin typeface="Calibri"/>
              </a:defRPr>
            </a:pPr>
            <a:r>
              <a:t>Common spot: Inside elbows, behind knees</a:t>
            </a:r>
          </a:p>
          <a:p>
            <a:pPr>
              <a:spcBef>
                <a:spcPts val="200"/>
              </a:spcBef>
              <a:defRPr sz="950">
                <a:solidFill>
                  <a:srgbClr val="475569"/>
                </a:solidFill>
                <a:latin typeface="Calibri"/>
              </a:defRPr>
            </a:pPr>
            <a:r>
              <a:t>Signs: Very itchy, dry, rough skin that flares up with weather or dust.</a:t>
            </a:r>
          </a:p>
        </p:txBody>
      </p:sp>
      <p:sp>
        <p:nvSpPr>
          <p:cNvPr id="11" name="Rounded Rectangle 10"/>
          <p:cNvSpPr/>
          <p:nvPr/>
        </p:nvSpPr>
        <p:spPr>
          <a:xfrm>
            <a:off x="731520" y="3154680"/>
            <a:ext cx="5212080" cy="12344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112" y="3319272"/>
            <a:ext cx="914400" cy="320040"/>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L30.1</a:t>
            </a:r>
          </a:p>
        </p:txBody>
      </p:sp>
      <p:sp>
        <p:nvSpPr>
          <p:cNvPr id="13" name="TextBox 12"/>
          <p:cNvSpPr txBox="1"/>
          <p:nvPr/>
        </p:nvSpPr>
        <p:spPr>
          <a:xfrm>
            <a:off x="1920240" y="3264408"/>
            <a:ext cx="3886200" cy="1051560"/>
          </a:xfrm>
          <a:prstGeom prst="rect">
            <a:avLst/>
          </a:prstGeom>
          <a:noFill/>
        </p:spPr>
        <p:txBody>
          <a:bodyPr wrap="square">
            <a:spAutoFit/>
          </a:bodyPr>
          <a:lstStyle/>
          <a:p>
            <a:pPr>
              <a:defRPr sz="1150" b="1">
                <a:solidFill>
                  <a:srgbClr val="0F172A"/>
                </a:solidFill>
                <a:latin typeface="Arial"/>
              </a:defRPr>
            </a:pPr>
            <a:r>
              <a:t>Hand &amp; Foot Blisters (Pompholyx)   (Common)</a:t>
            </a:r>
          </a:p>
          <a:p>
            <a:pPr>
              <a:spcBef>
                <a:spcPts val="200"/>
              </a:spcBef>
              <a:defRPr sz="1000" b="1">
                <a:solidFill>
                  <a:srgbClr val="0F6FBF"/>
                </a:solidFill>
                <a:latin typeface="Calibri"/>
              </a:defRPr>
            </a:pPr>
            <a:r>
              <a:t>Common spot: Sides of fingers, palms, soles</a:t>
            </a:r>
          </a:p>
          <a:p>
            <a:pPr>
              <a:spcBef>
                <a:spcPts val="200"/>
              </a:spcBef>
              <a:defRPr sz="950">
                <a:solidFill>
                  <a:srgbClr val="475569"/>
                </a:solidFill>
                <a:latin typeface="Calibri"/>
              </a:defRPr>
            </a:pPr>
            <a:r>
              <a:t>Signs: Tiny, deep-set itchy water blisters that burst and peel.</a:t>
            </a:r>
          </a:p>
        </p:txBody>
      </p:sp>
      <p:sp>
        <p:nvSpPr>
          <p:cNvPr id="14" name="Rounded Rectangle 13"/>
          <p:cNvSpPr/>
          <p:nvPr/>
        </p:nvSpPr>
        <p:spPr>
          <a:xfrm>
            <a:off x="6217920" y="3154680"/>
            <a:ext cx="5212080" cy="12344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82512" y="3319272"/>
            <a:ext cx="914400" cy="320040"/>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B35.9</a:t>
            </a:r>
          </a:p>
        </p:txBody>
      </p:sp>
      <p:sp>
        <p:nvSpPr>
          <p:cNvPr id="16" name="TextBox 15"/>
          <p:cNvSpPr txBox="1"/>
          <p:nvPr/>
        </p:nvSpPr>
        <p:spPr>
          <a:xfrm>
            <a:off x="7406640" y="3264408"/>
            <a:ext cx="3886200" cy="1051560"/>
          </a:xfrm>
          <a:prstGeom prst="rect">
            <a:avLst/>
          </a:prstGeom>
          <a:noFill/>
        </p:spPr>
        <p:txBody>
          <a:bodyPr wrap="square">
            <a:spAutoFit/>
          </a:bodyPr>
          <a:lstStyle/>
          <a:p>
            <a:pPr>
              <a:defRPr sz="1150" b="1">
                <a:solidFill>
                  <a:srgbClr val="0F172A"/>
                </a:solidFill>
                <a:latin typeface="Arial"/>
              </a:defRPr>
            </a:pPr>
            <a:r>
              <a:t>Ringworm / Fungal Infection   (Fungal Issue)</a:t>
            </a:r>
          </a:p>
          <a:p>
            <a:pPr>
              <a:spcBef>
                <a:spcPts val="200"/>
              </a:spcBef>
              <a:defRPr sz="1000" b="1">
                <a:solidFill>
                  <a:srgbClr val="0F6FBF"/>
                </a:solidFill>
                <a:latin typeface="Calibri"/>
              </a:defRPr>
            </a:pPr>
            <a:r>
              <a:t>Common spot: Body skin, groins, feet</a:t>
            </a:r>
          </a:p>
          <a:p>
            <a:pPr>
              <a:spcBef>
                <a:spcPts val="200"/>
              </a:spcBef>
              <a:defRPr sz="950">
                <a:solidFill>
                  <a:srgbClr val="475569"/>
                </a:solidFill>
                <a:latin typeface="Calibri"/>
              </a:defRPr>
            </a:pPr>
            <a:r>
              <a:t>Signs: Circular ring rash with an active scaly border and clear skin in center.</a:t>
            </a:r>
          </a:p>
        </p:txBody>
      </p:sp>
      <p:sp>
        <p:nvSpPr>
          <p:cNvPr id="17" name="Rounded Rectangle 16"/>
          <p:cNvSpPr/>
          <p:nvPr/>
        </p:nvSpPr>
        <p:spPr>
          <a:xfrm>
            <a:off x="731520" y="4526280"/>
            <a:ext cx="5212080" cy="12344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6112" y="4690872"/>
            <a:ext cx="914400" cy="320040"/>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L71.0</a:t>
            </a:r>
          </a:p>
        </p:txBody>
      </p:sp>
      <p:sp>
        <p:nvSpPr>
          <p:cNvPr id="19" name="TextBox 18"/>
          <p:cNvSpPr txBox="1"/>
          <p:nvPr/>
        </p:nvSpPr>
        <p:spPr>
          <a:xfrm>
            <a:off x="1920240" y="4636008"/>
            <a:ext cx="3886200" cy="1051560"/>
          </a:xfrm>
          <a:prstGeom prst="rect">
            <a:avLst/>
          </a:prstGeom>
          <a:noFill/>
        </p:spPr>
        <p:txBody>
          <a:bodyPr wrap="square">
            <a:spAutoFit/>
          </a:bodyPr>
          <a:lstStyle/>
          <a:p>
            <a:pPr>
              <a:defRPr sz="1150" b="1">
                <a:solidFill>
                  <a:srgbClr val="0F172A"/>
                </a:solidFill>
                <a:latin typeface="Arial"/>
              </a:defRPr>
            </a:pPr>
            <a:r>
              <a:t>Rosacea (Facial Redness)   (Chronic)</a:t>
            </a:r>
          </a:p>
          <a:p>
            <a:pPr>
              <a:spcBef>
                <a:spcPts val="200"/>
              </a:spcBef>
              <a:defRPr sz="1000" b="1">
                <a:solidFill>
                  <a:srgbClr val="0F6FBF"/>
                </a:solidFill>
                <a:latin typeface="Calibri"/>
              </a:defRPr>
            </a:pPr>
            <a:r>
              <a:t>Common spot: Cheeks, nose, forehead</a:t>
            </a:r>
          </a:p>
          <a:p>
            <a:pPr>
              <a:spcBef>
                <a:spcPts val="200"/>
              </a:spcBef>
              <a:defRPr sz="950">
                <a:solidFill>
                  <a:srgbClr val="475569"/>
                </a:solidFill>
                <a:latin typeface="Calibri"/>
              </a:defRPr>
            </a:pPr>
            <a:r>
              <a:t>Signs: Persistent redness on the face with visible tiny blood vessels.</a:t>
            </a:r>
          </a:p>
        </p:txBody>
      </p:sp>
      <p:sp>
        <p:nvSpPr>
          <p:cNvPr id="20" name="Rounded Rectangle 19"/>
          <p:cNvSpPr/>
          <p:nvPr/>
        </p:nvSpPr>
        <p:spPr>
          <a:xfrm>
            <a:off x="6217920" y="4526280"/>
            <a:ext cx="5212080" cy="12344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82512" y="4690872"/>
            <a:ext cx="914400" cy="320040"/>
          </a:xfrm>
          <a:prstGeom prst="roundRect">
            <a:avLst/>
          </a:prstGeom>
          <a:solidFill>
            <a:srgbClr val="0F6FBF"/>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L03.9</a:t>
            </a:r>
          </a:p>
        </p:txBody>
      </p:sp>
      <p:sp>
        <p:nvSpPr>
          <p:cNvPr id="22" name="TextBox 21"/>
          <p:cNvSpPr txBox="1"/>
          <p:nvPr/>
        </p:nvSpPr>
        <p:spPr>
          <a:xfrm>
            <a:off x="7406640" y="4636008"/>
            <a:ext cx="3886200" cy="1051560"/>
          </a:xfrm>
          <a:prstGeom prst="rect">
            <a:avLst/>
          </a:prstGeom>
          <a:noFill/>
        </p:spPr>
        <p:txBody>
          <a:bodyPr wrap="square">
            <a:spAutoFit/>
          </a:bodyPr>
          <a:lstStyle/>
          <a:p>
            <a:pPr>
              <a:defRPr sz="1150" b="1">
                <a:solidFill>
                  <a:srgbClr val="0F172A"/>
                </a:solidFill>
                <a:latin typeface="Arial"/>
              </a:defRPr>
            </a:pPr>
            <a:r>
              <a:t>Cellulitis (Severe Infection!)   (Emergency!)</a:t>
            </a:r>
          </a:p>
          <a:p>
            <a:pPr>
              <a:spcBef>
                <a:spcPts val="200"/>
              </a:spcBef>
              <a:defRPr sz="1000" b="1">
                <a:solidFill>
                  <a:srgbClr val="0F6FBF"/>
                </a:solidFill>
                <a:latin typeface="Calibri"/>
              </a:defRPr>
            </a:pPr>
            <a:r>
              <a:t>Common spot: Legs, feet, or arms</a:t>
            </a:r>
          </a:p>
          <a:p>
            <a:pPr>
              <a:spcBef>
                <a:spcPts val="200"/>
              </a:spcBef>
              <a:defRPr sz="950">
                <a:solidFill>
                  <a:srgbClr val="475569"/>
                </a:solidFill>
                <a:latin typeface="Calibri"/>
              </a:defRPr>
            </a:pPr>
            <a:r>
              <a:t>Signs: Fast-spreading red, hot, swollen skin with fever. Emergency hospital visit!</a:t>
            </a:r>
          </a:p>
        </p:txBody>
      </p:sp>
      <p:sp>
        <p:nvSpPr>
          <p:cNvPr id="23" name="Rounded Rectangle 22"/>
          <p:cNvSpPr/>
          <p:nvPr/>
        </p:nvSpPr>
        <p:spPr>
          <a:xfrm>
            <a:off x="731520" y="5897880"/>
            <a:ext cx="10728655" cy="50292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6FBF"/>
                </a:solidFill>
                <a:latin typeface="Arial"/>
              </a:defRPr>
            </a:pPr>
            <a:r>
              <a:t>Why medical codes matter: Having standard ICD-10 codes makes it easy to share results with any clinic or doctor.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How DermoScan Works Behind the Scenes</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A simple 5-step journey from your photo to your private health report.</a:t>
            </a:r>
          </a:p>
        </p:txBody>
      </p:sp>
      <p:sp>
        <p:nvSpPr>
          <p:cNvPr id="5" name="Rounded Rectangle 4"/>
          <p:cNvSpPr/>
          <p:nvPr/>
        </p:nvSpPr>
        <p:spPr>
          <a:xfrm>
            <a:off x="731520" y="1783080"/>
            <a:ext cx="1965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11680"/>
            <a:ext cx="548640" cy="54864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6FBF"/>
                </a:solidFill>
                <a:latin typeface="Arial"/>
              </a:defRPr>
            </a:pPr>
            <a:r>
              <a:t>01</a:t>
            </a:r>
          </a:p>
        </p:txBody>
      </p:sp>
      <p:sp>
        <p:nvSpPr>
          <p:cNvPr id="7" name="TextBox 6"/>
          <p:cNvSpPr txBox="1"/>
          <p:nvPr/>
        </p:nvSpPr>
        <p:spPr>
          <a:xfrm>
            <a:off x="896112" y="2743200"/>
            <a:ext cx="1636776" cy="2194560"/>
          </a:xfrm>
          <a:prstGeom prst="rect">
            <a:avLst/>
          </a:prstGeom>
          <a:noFill/>
        </p:spPr>
        <p:txBody>
          <a:bodyPr wrap="square">
            <a:spAutoFit/>
          </a:bodyPr>
          <a:lstStyle/>
          <a:p>
            <a:pPr>
              <a:defRPr sz="1200" b="1">
                <a:solidFill>
                  <a:srgbClr val="0F172A"/>
                </a:solidFill>
                <a:latin typeface="Arial"/>
              </a:defRPr>
            </a:pPr>
            <a:r>
              <a:t>1. You Upload</a:t>
            </a:r>
          </a:p>
          <a:p>
            <a:pPr>
              <a:spcBef>
                <a:spcPts val="300"/>
              </a:spcBef>
              <a:spcAft>
                <a:spcPts val="600"/>
              </a:spcAft>
              <a:defRPr sz="950" b="1">
                <a:solidFill>
                  <a:srgbClr val="0F6FBF"/>
                </a:solidFill>
                <a:latin typeface="Arial"/>
              </a:defRPr>
            </a:pPr>
            <a:r>
              <a:t>Your Browser</a:t>
            </a:r>
          </a:p>
          <a:p>
            <a:pPr>
              <a:defRPr sz="1000">
                <a:solidFill>
                  <a:srgbClr val="475569"/>
                </a:solidFill>
                <a:latin typeface="Calibri"/>
              </a:defRPr>
            </a:pPr>
            <a:r>
              <a:t>Open the website on phone or laptop and upload your photo.</a:t>
            </a:r>
          </a:p>
        </p:txBody>
      </p:sp>
      <p:sp>
        <p:nvSpPr>
          <p:cNvPr id="8" name="Rounded Rectangle 7"/>
          <p:cNvSpPr/>
          <p:nvPr/>
        </p:nvSpPr>
        <p:spPr>
          <a:xfrm>
            <a:off x="2916936" y="1783080"/>
            <a:ext cx="1965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099816" y="2011680"/>
            <a:ext cx="548640" cy="54864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6FBF"/>
                </a:solidFill>
                <a:latin typeface="Arial"/>
              </a:defRPr>
            </a:pPr>
            <a:r>
              <a:t>02</a:t>
            </a:r>
          </a:p>
        </p:txBody>
      </p:sp>
      <p:sp>
        <p:nvSpPr>
          <p:cNvPr id="10" name="TextBox 9"/>
          <p:cNvSpPr txBox="1"/>
          <p:nvPr/>
        </p:nvSpPr>
        <p:spPr>
          <a:xfrm>
            <a:off x="3081528" y="2743200"/>
            <a:ext cx="1636776" cy="2194560"/>
          </a:xfrm>
          <a:prstGeom prst="rect">
            <a:avLst/>
          </a:prstGeom>
          <a:noFill/>
        </p:spPr>
        <p:txBody>
          <a:bodyPr wrap="square">
            <a:spAutoFit/>
          </a:bodyPr>
          <a:lstStyle/>
          <a:p>
            <a:pPr>
              <a:defRPr sz="1200" b="1">
                <a:solidFill>
                  <a:srgbClr val="0F172A"/>
                </a:solidFill>
                <a:latin typeface="Arial"/>
              </a:defRPr>
            </a:pPr>
            <a:r>
              <a:t>2. Auto-Resize</a:t>
            </a:r>
          </a:p>
          <a:p>
            <a:pPr>
              <a:spcBef>
                <a:spcPts val="300"/>
              </a:spcBef>
              <a:spcAft>
                <a:spcPts val="600"/>
              </a:spcAft>
              <a:defRPr sz="950" b="1">
                <a:solidFill>
                  <a:srgbClr val="0F6FBF"/>
                </a:solidFill>
                <a:latin typeface="Arial"/>
              </a:defRPr>
            </a:pPr>
            <a:r>
              <a:t>Fast Scaling</a:t>
            </a:r>
          </a:p>
          <a:p>
            <a:pPr>
              <a:defRPr sz="1000">
                <a:solidFill>
                  <a:srgbClr val="475569"/>
                </a:solidFill>
                <a:latin typeface="Calibri"/>
              </a:defRPr>
            </a:pPr>
            <a:r>
              <a:t>Browser quickly downsizes big 15MB photos so it loads fast.</a:t>
            </a:r>
          </a:p>
        </p:txBody>
      </p:sp>
      <p:sp>
        <p:nvSpPr>
          <p:cNvPr id="11" name="Rounded Rectangle 10"/>
          <p:cNvSpPr/>
          <p:nvPr/>
        </p:nvSpPr>
        <p:spPr>
          <a:xfrm>
            <a:off x="5102352" y="1783080"/>
            <a:ext cx="1965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285232" y="2011680"/>
            <a:ext cx="548640" cy="54864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6FBF"/>
                </a:solidFill>
                <a:latin typeface="Arial"/>
              </a:defRPr>
            </a:pPr>
            <a:r>
              <a:t>03</a:t>
            </a:r>
          </a:p>
        </p:txBody>
      </p:sp>
      <p:sp>
        <p:nvSpPr>
          <p:cNvPr id="13" name="TextBox 12"/>
          <p:cNvSpPr txBox="1"/>
          <p:nvPr/>
        </p:nvSpPr>
        <p:spPr>
          <a:xfrm>
            <a:off x="5266944" y="2743200"/>
            <a:ext cx="1636776" cy="2194560"/>
          </a:xfrm>
          <a:prstGeom prst="rect">
            <a:avLst/>
          </a:prstGeom>
          <a:noFill/>
        </p:spPr>
        <p:txBody>
          <a:bodyPr wrap="square">
            <a:spAutoFit/>
          </a:bodyPr>
          <a:lstStyle/>
          <a:p>
            <a:pPr>
              <a:defRPr sz="1200" b="1">
                <a:solidFill>
                  <a:srgbClr val="0F172A"/>
                </a:solidFill>
                <a:latin typeface="Arial"/>
              </a:defRPr>
            </a:pPr>
            <a:r>
              <a:t>3. AI Scan</a:t>
            </a:r>
          </a:p>
          <a:p>
            <a:pPr>
              <a:spcBef>
                <a:spcPts val="300"/>
              </a:spcBef>
              <a:spcAft>
                <a:spcPts val="600"/>
              </a:spcAft>
              <a:defRPr sz="950" b="1">
                <a:solidFill>
                  <a:srgbClr val="0F6FBF"/>
                </a:solidFill>
                <a:latin typeface="Arial"/>
              </a:defRPr>
            </a:pPr>
            <a:r>
              <a:t>Vision Analysis</a:t>
            </a:r>
          </a:p>
          <a:p>
            <a:pPr>
              <a:defRPr sz="1000">
                <a:solidFill>
                  <a:srgbClr val="475569"/>
                </a:solidFill>
                <a:latin typeface="Calibri"/>
              </a:defRPr>
            </a:pPr>
            <a:r>
              <a:t>Smart AI checks skin color, shape, border edges, and location.</a:t>
            </a:r>
          </a:p>
        </p:txBody>
      </p:sp>
      <p:sp>
        <p:nvSpPr>
          <p:cNvPr id="14" name="Rounded Rectangle 13"/>
          <p:cNvSpPr/>
          <p:nvPr/>
        </p:nvSpPr>
        <p:spPr>
          <a:xfrm>
            <a:off x="7287768" y="1783080"/>
            <a:ext cx="1965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70648" y="2011680"/>
            <a:ext cx="548640" cy="54864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6FBF"/>
                </a:solidFill>
                <a:latin typeface="Arial"/>
              </a:defRPr>
            </a:pPr>
            <a:r>
              <a:t>04</a:t>
            </a:r>
          </a:p>
        </p:txBody>
      </p:sp>
      <p:sp>
        <p:nvSpPr>
          <p:cNvPr id="16" name="TextBox 15"/>
          <p:cNvSpPr txBox="1"/>
          <p:nvPr/>
        </p:nvSpPr>
        <p:spPr>
          <a:xfrm>
            <a:off x="7452360" y="2743200"/>
            <a:ext cx="1636776" cy="2194560"/>
          </a:xfrm>
          <a:prstGeom prst="rect">
            <a:avLst/>
          </a:prstGeom>
          <a:noFill/>
        </p:spPr>
        <p:txBody>
          <a:bodyPr wrap="square">
            <a:spAutoFit/>
          </a:bodyPr>
          <a:lstStyle/>
          <a:p>
            <a:pPr>
              <a:defRPr sz="1200" b="1">
                <a:solidFill>
                  <a:srgbClr val="0F172A"/>
                </a:solidFill>
                <a:latin typeface="Arial"/>
              </a:defRPr>
            </a:pPr>
            <a:r>
              <a:t>4. Safety Rules</a:t>
            </a:r>
          </a:p>
          <a:p>
            <a:pPr>
              <a:spcBef>
                <a:spcPts val="300"/>
              </a:spcBef>
              <a:spcAft>
                <a:spcPts val="600"/>
              </a:spcAft>
              <a:defRPr sz="950" b="1">
                <a:solidFill>
                  <a:srgbClr val="0F6FBF"/>
                </a:solidFill>
                <a:latin typeface="Arial"/>
              </a:defRPr>
            </a:pPr>
            <a:r>
              <a:t>Medical Guardrails</a:t>
            </a:r>
          </a:p>
          <a:p>
            <a:pPr>
              <a:defRPr sz="1000">
                <a:solidFill>
                  <a:srgbClr val="475569"/>
                </a:solidFill>
                <a:latin typeface="Calibri"/>
              </a:defRPr>
            </a:pPr>
            <a:r>
              <a:t>Double-checks against medical rules and scans for emergencies.</a:t>
            </a:r>
          </a:p>
        </p:txBody>
      </p:sp>
      <p:sp>
        <p:nvSpPr>
          <p:cNvPr id="17" name="Rounded Rectangle 16"/>
          <p:cNvSpPr/>
          <p:nvPr/>
        </p:nvSpPr>
        <p:spPr>
          <a:xfrm>
            <a:off x="9473184" y="1783080"/>
            <a:ext cx="19659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56064" y="2011680"/>
            <a:ext cx="548640" cy="54864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6FBF"/>
                </a:solidFill>
                <a:latin typeface="Arial"/>
              </a:defRPr>
            </a:pPr>
            <a:r>
              <a:t>05</a:t>
            </a:r>
          </a:p>
        </p:txBody>
      </p:sp>
      <p:sp>
        <p:nvSpPr>
          <p:cNvPr id="19" name="TextBox 18"/>
          <p:cNvSpPr txBox="1"/>
          <p:nvPr/>
        </p:nvSpPr>
        <p:spPr>
          <a:xfrm>
            <a:off x="9637776" y="2743200"/>
            <a:ext cx="1636776" cy="2194560"/>
          </a:xfrm>
          <a:prstGeom prst="rect">
            <a:avLst/>
          </a:prstGeom>
          <a:noFill/>
        </p:spPr>
        <p:txBody>
          <a:bodyPr wrap="square">
            <a:spAutoFit/>
          </a:bodyPr>
          <a:lstStyle/>
          <a:p>
            <a:pPr>
              <a:defRPr sz="1200" b="1">
                <a:solidFill>
                  <a:srgbClr val="0F172A"/>
                </a:solidFill>
                <a:latin typeface="Arial"/>
              </a:defRPr>
            </a:pPr>
            <a:r>
              <a:t>5. Your Report</a:t>
            </a:r>
          </a:p>
          <a:p>
            <a:pPr>
              <a:spcBef>
                <a:spcPts val="300"/>
              </a:spcBef>
              <a:spcAft>
                <a:spcPts val="600"/>
              </a:spcAft>
              <a:defRPr sz="950" b="1">
                <a:solidFill>
                  <a:srgbClr val="0F6FBF"/>
                </a:solidFill>
                <a:latin typeface="Arial"/>
              </a:defRPr>
            </a:pPr>
            <a:r>
              <a:t>On-Screen Only</a:t>
            </a:r>
          </a:p>
          <a:p>
            <a:pPr>
              <a:defRPr sz="1000">
                <a:solidFill>
                  <a:srgbClr val="475569"/>
                </a:solidFill>
                <a:latin typeface="Calibri"/>
              </a:defRPr>
            </a:pPr>
            <a:r>
              <a:t>Shows clear results on screen. Nothing is saved online!</a:t>
            </a:r>
          </a:p>
        </p:txBody>
      </p:sp>
      <p:sp>
        <p:nvSpPr>
          <p:cNvPr id="20" name="Rounded Rectangle 19"/>
          <p:cNvSpPr/>
          <p:nvPr/>
        </p:nvSpPr>
        <p:spPr>
          <a:xfrm>
            <a:off x="731520" y="5303520"/>
            <a:ext cx="10728655" cy="1051560"/>
          </a:xfrm>
          <a:prstGeom prst="roundRect">
            <a:avLst/>
          </a:prstGeom>
          <a:solidFill>
            <a:srgbClr val="FFFFFF"/>
          </a:solidFill>
          <a:ln w="19050">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100" b="1">
                <a:solidFill>
                  <a:srgbClr val="0F6FBF"/>
                </a:solidFill>
                <a:latin typeface="Arial"/>
              </a:defRPr>
            </a:pPr>
            <a:r>
              <a:t>Our 100% Privacy Promise</a:t>
            </a:r>
          </a:p>
          <a:p>
            <a:pPr>
              <a:spcBef>
                <a:spcPts val="200"/>
              </a:spcBef>
              <a:defRPr sz="1050">
                <a:solidFill>
                  <a:srgbClr val="475569"/>
                </a:solidFill>
                <a:latin typeface="Calibri"/>
              </a:defRPr>
            </a:pPr>
            <a:r>
              <a:t>Your skin photo is processed right inside your device's memory. No photos, personal names, or medical records are ever saved on our servers or sold to advertisers. You are completely in control.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Modern Tools Built for Speed and Simplicity</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Built with the latest reliable web tools so it runs smoothly on any smartphone or computer.</a:t>
            </a:r>
          </a:p>
        </p:txBody>
      </p:sp>
      <p:sp>
        <p:nvSpPr>
          <p:cNvPr id="5" name="Rounded Rectangle 4"/>
          <p:cNvSpPr/>
          <p:nvPr/>
        </p:nvSpPr>
        <p:spPr>
          <a:xfrm>
            <a:off x="731520" y="1783080"/>
            <a:ext cx="5120640" cy="45720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965960"/>
            <a:ext cx="4754880" cy="53035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a:lstStyle/>
          <a:p>
            <a:pPr algn="ctr">
              <a:defRPr sz="1000" b="1">
                <a:solidFill>
                  <a:srgbClr val="0F6FBF"/>
                </a:solidFill>
                <a:latin typeface="Arial"/>
              </a:defRPr>
            </a:pPr>
            <a:r>
              <a:t>React 18</a:t>
            </a:r>
          </a:p>
          <a:p>
            <a:pPr>
              <a:defRPr sz="950">
                <a:solidFill>
                  <a:srgbClr val="0F172A"/>
                </a:solidFill>
                <a:latin typeface="Calibri"/>
              </a:defRPr>
            </a:pPr>
            <a:r>
              <a:t>Builds a smooth, interactive website with zero page reloads</a:t>
            </a:r>
          </a:p>
        </p:txBody>
      </p:sp>
      <p:sp>
        <p:nvSpPr>
          <p:cNvPr id="7" name="Rounded Rectangle 6"/>
          <p:cNvSpPr/>
          <p:nvPr/>
        </p:nvSpPr>
        <p:spPr>
          <a:xfrm>
            <a:off x="914400" y="2560320"/>
            <a:ext cx="4754880" cy="53035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a:lstStyle/>
          <a:p>
            <a:pPr algn="ctr">
              <a:defRPr sz="1000" b="1">
                <a:solidFill>
                  <a:srgbClr val="0F6FBF"/>
                </a:solidFill>
                <a:latin typeface="Arial"/>
              </a:defRPr>
            </a:pPr>
            <a:r>
              <a:t>TypeScript 5.7</a:t>
            </a:r>
          </a:p>
          <a:p>
            <a:pPr>
              <a:defRPr sz="950">
                <a:solidFill>
                  <a:srgbClr val="0F172A"/>
                </a:solidFill>
                <a:latin typeface="Calibri"/>
              </a:defRPr>
            </a:pPr>
            <a:r>
              <a:t>Prevents bugs and ensures all medical data is handled correctly</a:t>
            </a:r>
          </a:p>
        </p:txBody>
      </p:sp>
      <p:sp>
        <p:nvSpPr>
          <p:cNvPr id="8" name="Rounded Rectangle 7"/>
          <p:cNvSpPr/>
          <p:nvPr/>
        </p:nvSpPr>
        <p:spPr>
          <a:xfrm>
            <a:off x="914400" y="3154679"/>
            <a:ext cx="4754880" cy="53035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a:lstStyle/>
          <a:p>
            <a:pPr algn="ctr">
              <a:defRPr sz="1000" b="1">
                <a:solidFill>
                  <a:srgbClr val="0F6FBF"/>
                </a:solidFill>
                <a:latin typeface="Arial"/>
              </a:defRPr>
            </a:pPr>
            <a:r>
              <a:t>Vite 6</a:t>
            </a:r>
          </a:p>
          <a:p>
            <a:pPr>
              <a:defRPr sz="950">
                <a:solidFill>
                  <a:srgbClr val="0F172A"/>
                </a:solidFill>
                <a:latin typeface="Calibri"/>
              </a:defRPr>
            </a:pPr>
            <a:r>
              <a:t>Ultra-fast modern development tool for instant loading</a:t>
            </a:r>
          </a:p>
        </p:txBody>
      </p:sp>
      <p:sp>
        <p:nvSpPr>
          <p:cNvPr id="9" name="Rounded Rectangle 8"/>
          <p:cNvSpPr/>
          <p:nvPr/>
        </p:nvSpPr>
        <p:spPr>
          <a:xfrm>
            <a:off x="914400" y="3749039"/>
            <a:ext cx="4754880" cy="53035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a:lstStyle/>
          <a:p>
            <a:pPr algn="ctr">
              <a:defRPr sz="1000" b="1">
                <a:solidFill>
                  <a:srgbClr val="0F6FBF"/>
                </a:solidFill>
                <a:latin typeface="Arial"/>
              </a:defRPr>
            </a:pPr>
            <a:r>
              <a:t>Tailwind CSS</a:t>
            </a:r>
          </a:p>
          <a:p>
            <a:pPr>
              <a:defRPr sz="950">
                <a:solidFill>
                  <a:srgbClr val="0F172A"/>
                </a:solidFill>
                <a:latin typeface="Calibri"/>
              </a:defRPr>
            </a:pPr>
            <a:r>
              <a:t>Creates a clean, simple look that adjusts to any screen size</a:t>
            </a:r>
          </a:p>
        </p:txBody>
      </p:sp>
      <p:sp>
        <p:nvSpPr>
          <p:cNvPr id="10" name="Rounded Rectangle 9"/>
          <p:cNvSpPr/>
          <p:nvPr/>
        </p:nvSpPr>
        <p:spPr>
          <a:xfrm>
            <a:off x="914400" y="4343400"/>
            <a:ext cx="4754880" cy="53035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a:lstStyle/>
          <a:p>
            <a:pPr algn="ctr">
              <a:defRPr sz="1000" b="1">
                <a:solidFill>
                  <a:srgbClr val="0F6FBF"/>
                </a:solidFill>
                <a:latin typeface="Arial"/>
              </a:defRPr>
            </a:pPr>
            <a:r>
              <a:t>HTML5 Canvas</a:t>
            </a:r>
          </a:p>
          <a:p>
            <a:pPr>
              <a:defRPr sz="950">
                <a:solidFill>
                  <a:srgbClr val="0F172A"/>
                </a:solidFill>
                <a:latin typeface="Calibri"/>
              </a:defRPr>
            </a:pPr>
            <a:r>
              <a:t>Resizes heavy phone photos directly inside the browser</a:t>
            </a:r>
          </a:p>
        </p:txBody>
      </p:sp>
      <p:sp>
        <p:nvSpPr>
          <p:cNvPr id="11" name="Rounded Rectangle 10"/>
          <p:cNvSpPr/>
          <p:nvPr/>
        </p:nvSpPr>
        <p:spPr>
          <a:xfrm>
            <a:off x="914400" y="4937760"/>
            <a:ext cx="4754880" cy="53035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a:lstStyle/>
          <a:p>
            <a:pPr algn="ctr">
              <a:defRPr sz="1000" b="1">
                <a:solidFill>
                  <a:srgbClr val="0F6FBF"/>
                </a:solidFill>
                <a:latin typeface="Arial"/>
              </a:defRPr>
            </a:pPr>
            <a:r>
              <a:t>Lucide Icons</a:t>
            </a:r>
          </a:p>
          <a:p>
            <a:pPr>
              <a:defRPr sz="950">
                <a:solidFill>
                  <a:srgbClr val="0F172A"/>
                </a:solidFill>
                <a:latin typeface="Calibri"/>
              </a:defRPr>
            </a:pPr>
            <a:r>
              <a:t>Clear, friendly medical and navigation icons</a:t>
            </a:r>
          </a:p>
        </p:txBody>
      </p:sp>
      <p:sp>
        <p:nvSpPr>
          <p:cNvPr id="12" name="Rounded Rectangle 11"/>
          <p:cNvSpPr/>
          <p:nvPr/>
        </p:nvSpPr>
        <p:spPr>
          <a:xfrm>
            <a:off x="914400" y="5532120"/>
            <a:ext cx="4754880" cy="53035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a:lstStyle/>
          <a:p>
            <a:pPr algn="ctr">
              <a:defRPr sz="1000" b="1">
                <a:solidFill>
                  <a:srgbClr val="0F6FBF"/>
                </a:solidFill>
                <a:latin typeface="Arial"/>
              </a:defRPr>
            </a:pPr>
            <a:r>
              <a:t>Vercel Hosting</a:t>
            </a:r>
          </a:p>
          <a:p>
            <a:pPr>
              <a:defRPr sz="950">
                <a:solidFill>
                  <a:srgbClr val="0F172A"/>
                </a:solidFill>
                <a:latin typeface="Calibri"/>
              </a:defRPr>
            </a:pPr>
            <a:r>
              <a:t>Hosts the app online so anyone in the world can access it for free</a:t>
            </a:r>
          </a:p>
        </p:txBody>
      </p:sp>
      <p:sp>
        <p:nvSpPr>
          <p:cNvPr id="13" name="Rounded Rectangle 12"/>
          <p:cNvSpPr/>
          <p:nvPr/>
        </p:nvSpPr>
        <p:spPr>
          <a:xfrm>
            <a:off x="6217920" y="1783080"/>
            <a:ext cx="5212080" cy="10515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ctr">
              <a:defRPr sz="1100" b="1">
                <a:solidFill>
                  <a:srgbClr val="0F6FBF"/>
                </a:solidFill>
                <a:latin typeface="Arial"/>
              </a:defRPr>
            </a:pPr>
            <a:r>
              <a:t>Super Fast (Under 1 Second)</a:t>
            </a:r>
          </a:p>
          <a:p>
            <a:pPr>
              <a:spcBef>
                <a:spcPts val="200"/>
              </a:spcBef>
              <a:defRPr sz="1000">
                <a:solidFill>
                  <a:srgbClr val="0F172A"/>
                </a:solidFill>
                <a:latin typeface="Calibri"/>
              </a:defRPr>
            </a:pPr>
            <a:r>
              <a:t>Resizing images right on your device reduces file size from 15MB to under 250KB, making scans almost instant.</a:t>
            </a:r>
          </a:p>
        </p:txBody>
      </p:sp>
      <p:sp>
        <p:nvSpPr>
          <p:cNvPr id="14" name="Rounded Rectangle 13"/>
          <p:cNvSpPr/>
          <p:nvPr/>
        </p:nvSpPr>
        <p:spPr>
          <a:xfrm>
            <a:off x="6217920" y="2926080"/>
            <a:ext cx="5212080" cy="10515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ctr">
              <a:defRPr sz="1100" b="1">
                <a:solidFill>
                  <a:srgbClr val="0F6FBF"/>
                </a:solidFill>
                <a:latin typeface="Arial"/>
              </a:defRPr>
            </a:pPr>
            <a:r>
              <a:t>Calm Medical Blue Design</a:t>
            </a:r>
          </a:p>
          <a:p>
            <a:pPr>
              <a:spcBef>
                <a:spcPts val="200"/>
              </a:spcBef>
              <a:defRPr sz="1000">
                <a:solidFill>
                  <a:srgbClr val="0F172A"/>
                </a:solidFill>
                <a:latin typeface="Calibri"/>
              </a:defRPr>
            </a:pPr>
            <a:r>
              <a:t>We purposely removed harsh red and yellow warning lights to reduce patient anxiety and make it easy to read.</a:t>
            </a:r>
          </a:p>
        </p:txBody>
      </p:sp>
      <p:sp>
        <p:nvSpPr>
          <p:cNvPr id="15" name="Rounded Rectangle 14"/>
          <p:cNvSpPr/>
          <p:nvPr/>
        </p:nvSpPr>
        <p:spPr>
          <a:xfrm>
            <a:off x="6217920" y="4069080"/>
            <a:ext cx="5212080" cy="10515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ctr">
              <a:defRPr sz="1100" b="1">
                <a:solidFill>
                  <a:srgbClr val="0F6FBF"/>
                </a:solidFill>
                <a:latin typeface="Arial"/>
              </a:defRPr>
            </a:pPr>
            <a:r>
              <a:t>Works on Phones and Laptops</a:t>
            </a:r>
          </a:p>
          <a:p>
            <a:pPr>
              <a:spcBef>
                <a:spcPts val="200"/>
              </a:spcBef>
              <a:defRPr sz="1000">
                <a:solidFill>
                  <a:srgbClr val="0F172A"/>
                </a:solidFill>
                <a:latin typeface="Calibri"/>
              </a:defRPr>
            </a:pPr>
            <a:r>
              <a:t>Whether you open it on an Android phone, iPhone, tablet, or PC, the layout adjusts automatically.</a:t>
            </a:r>
          </a:p>
        </p:txBody>
      </p:sp>
      <p:sp>
        <p:nvSpPr>
          <p:cNvPr id="16" name="Rounded Rectangle 15"/>
          <p:cNvSpPr/>
          <p:nvPr/>
        </p:nvSpPr>
        <p:spPr>
          <a:xfrm>
            <a:off x="6217920" y="5212080"/>
            <a:ext cx="5212080" cy="10515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ctr">
              <a:defRPr sz="1100" b="1">
                <a:solidFill>
                  <a:srgbClr val="0F6FBF"/>
                </a:solidFill>
                <a:latin typeface="Arial"/>
              </a:defRPr>
            </a:pPr>
            <a:r>
              <a:t>Reliable Even Offline</a:t>
            </a:r>
          </a:p>
          <a:p>
            <a:pPr>
              <a:spcBef>
                <a:spcPts val="200"/>
              </a:spcBef>
              <a:defRPr sz="1000">
                <a:solidFill>
                  <a:srgbClr val="0F172A"/>
                </a:solidFill>
                <a:latin typeface="Calibri"/>
              </a:defRPr>
            </a:pPr>
            <a:r>
              <a:t>Has built-in fallback rules so the triage system keeps working even if the internet connection is weak.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Safety First: Clear Rules and Ethical Safeguards</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DermoScan is built to assist and guide, never to replace your doctor.</a:t>
            </a:r>
          </a:p>
        </p:txBody>
      </p:sp>
      <p:sp>
        <p:nvSpPr>
          <p:cNvPr id="5" name="Rounded Rectangle 4"/>
          <p:cNvSpPr/>
          <p:nvPr/>
        </p:nvSpPr>
        <p:spPr>
          <a:xfrm>
            <a:off x="731520" y="1783080"/>
            <a:ext cx="2542032"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11680"/>
            <a:ext cx="594360" cy="59436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6FBF"/>
                </a:solidFill>
                <a:latin typeface="Arial"/>
              </a:defRPr>
            </a:pPr>
            <a:r>
              <a:t>S1</a:t>
            </a:r>
          </a:p>
        </p:txBody>
      </p:sp>
      <p:sp>
        <p:nvSpPr>
          <p:cNvPr id="7" name="TextBox 6"/>
          <p:cNvSpPr txBox="1"/>
          <p:nvPr/>
        </p:nvSpPr>
        <p:spPr>
          <a:xfrm>
            <a:off x="914400" y="2743200"/>
            <a:ext cx="2176272" cy="2651760"/>
          </a:xfrm>
          <a:prstGeom prst="rect">
            <a:avLst/>
          </a:prstGeom>
          <a:noFill/>
        </p:spPr>
        <p:txBody>
          <a:bodyPr wrap="square">
            <a:spAutoFit/>
          </a:bodyPr>
          <a:lstStyle/>
          <a:p>
            <a:pPr>
              <a:defRPr sz="1300" b="1">
                <a:solidFill>
                  <a:srgbClr val="0F172A"/>
                </a:solidFill>
                <a:latin typeface="Arial"/>
              </a:defRPr>
            </a:pPr>
            <a:r>
              <a:t>Helper, Not a Doctor</a:t>
            </a:r>
          </a:p>
          <a:p>
            <a:pPr>
              <a:spcBef>
                <a:spcPts val="400"/>
              </a:spcBef>
              <a:spcAft>
                <a:spcPts val="800"/>
              </a:spcAft>
              <a:defRPr sz="950" b="1">
                <a:solidFill>
                  <a:srgbClr val="0F6FBF"/>
                </a:solidFill>
                <a:latin typeface="Arial"/>
              </a:defRPr>
            </a:pPr>
            <a:r>
              <a:t>Always See a Doctor</a:t>
            </a:r>
          </a:p>
          <a:p>
            <a:pPr>
              <a:defRPr sz="1100">
                <a:solidFill>
                  <a:srgbClr val="475569"/>
                </a:solidFill>
                <a:latin typeface="Calibri"/>
              </a:defRPr>
            </a:pPr>
            <a:r>
              <a:t>It gives helpful guidance and information, but always reminds users that only a licensed doctor can give a final medical diagnosis.</a:t>
            </a:r>
          </a:p>
        </p:txBody>
      </p:sp>
      <p:sp>
        <p:nvSpPr>
          <p:cNvPr id="8" name="Rounded Rectangle 7"/>
          <p:cNvSpPr/>
          <p:nvPr/>
        </p:nvSpPr>
        <p:spPr>
          <a:xfrm>
            <a:off x="3456432" y="1783080"/>
            <a:ext cx="2542032"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39312" y="2011680"/>
            <a:ext cx="594360" cy="59436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6FBF"/>
                </a:solidFill>
                <a:latin typeface="Arial"/>
              </a:defRPr>
            </a:pPr>
            <a:r>
              <a:t>S2</a:t>
            </a:r>
          </a:p>
        </p:txBody>
      </p:sp>
      <p:sp>
        <p:nvSpPr>
          <p:cNvPr id="10" name="TextBox 9"/>
          <p:cNvSpPr txBox="1"/>
          <p:nvPr/>
        </p:nvSpPr>
        <p:spPr>
          <a:xfrm>
            <a:off x="3639312" y="2743200"/>
            <a:ext cx="2176272" cy="2651760"/>
          </a:xfrm>
          <a:prstGeom prst="rect">
            <a:avLst/>
          </a:prstGeom>
          <a:noFill/>
        </p:spPr>
        <p:txBody>
          <a:bodyPr wrap="square">
            <a:spAutoFit/>
          </a:bodyPr>
          <a:lstStyle/>
          <a:p>
            <a:pPr>
              <a:defRPr sz="1300" b="1">
                <a:solidFill>
                  <a:srgbClr val="0F172A"/>
                </a:solidFill>
                <a:latin typeface="Arial"/>
              </a:defRPr>
            </a:pPr>
            <a:r>
              <a:t>Rejects Blurry Photos</a:t>
            </a:r>
          </a:p>
          <a:p>
            <a:pPr>
              <a:spcBef>
                <a:spcPts val="400"/>
              </a:spcBef>
              <a:spcAft>
                <a:spcPts val="800"/>
              </a:spcAft>
              <a:defRPr sz="950" b="1">
                <a:solidFill>
                  <a:srgbClr val="0F6FBF"/>
                </a:solidFill>
                <a:latin typeface="Arial"/>
              </a:defRPr>
            </a:pPr>
            <a:r>
              <a:t>Quality Image Check</a:t>
            </a:r>
          </a:p>
          <a:p>
            <a:pPr>
              <a:defRPr sz="1100">
                <a:solidFill>
                  <a:srgbClr val="475569"/>
                </a:solidFill>
                <a:latin typeface="Calibri"/>
              </a:defRPr>
            </a:pPr>
            <a:r>
              <a:t>If a photo is too blurry, too dark, or doesn't show skin, it asks you to take a clearer photo instead of guessing blindly.</a:t>
            </a:r>
          </a:p>
        </p:txBody>
      </p:sp>
      <p:sp>
        <p:nvSpPr>
          <p:cNvPr id="11" name="Rounded Rectangle 10"/>
          <p:cNvSpPr/>
          <p:nvPr/>
        </p:nvSpPr>
        <p:spPr>
          <a:xfrm>
            <a:off x="6181344" y="1783080"/>
            <a:ext cx="2542032"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64224" y="2011680"/>
            <a:ext cx="594360" cy="59436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6FBF"/>
                </a:solidFill>
                <a:latin typeface="Arial"/>
              </a:defRPr>
            </a:pPr>
            <a:r>
              <a:t>S3</a:t>
            </a:r>
          </a:p>
        </p:txBody>
      </p:sp>
      <p:sp>
        <p:nvSpPr>
          <p:cNvPr id="13" name="TextBox 12"/>
          <p:cNvSpPr txBox="1"/>
          <p:nvPr/>
        </p:nvSpPr>
        <p:spPr>
          <a:xfrm>
            <a:off x="6364224" y="2743200"/>
            <a:ext cx="2176272" cy="2651760"/>
          </a:xfrm>
          <a:prstGeom prst="rect">
            <a:avLst/>
          </a:prstGeom>
          <a:noFill/>
        </p:spPr>
        <p:txBody>
          <a:bodyPr wrap="square">
            <a:spAutoFit/>
          </a:bodyPr>
          <a:lstStyle/>
          <a:p>
            <a:pPr>
              <a:defRPr sz="1300" b="1">
                <a:solidFill>
                  <a:srgbClr val="0F172A"/>
                </a:solidFill>
                <a:latin typeface="Arial"/>
              </a:defRPr>
            </a:pPr>
            <a:r>
              <a:t>Emergency Alerts</a:t>
            </a:r>
          </a:p>
          <a:p>
            <a:pPr>
              <a:spcBef>
                <a:spcPts val="400"/>
              </a:spcBef>
              <a:spcAft>
                <a:spcPts val="800"/>
              </a:spcAft>
              <a:defRPr sz="950" b="1">
                <a:solidFill>
                  <a:srgbClr val="0F6FBF"/>
                </a:solidFill>
                <a:latin typeface="Arial"/>
              </a:defRPr>
            </a:pPr>
            <a:r>
              <a:t>Fast Emergency Warning</a:t>
            </a:r>
          </a:p>
          <a:p>
            <a:pPr>
              <a:defRPr sz="1100">
                <a:solidFill>
                  <a:srgbClr val="475569"/>
                </a:solidFill>
                <a:latin typeface="Calibri"/>
              </a:defRPr>
            </a:pPr>
            <a:r>
              <a:t>If signs indicate a fast-spreading severe infection (like Cellulitis), it displays an immediate warning to visit a hospital.</a:t>
            </a:r>
          </a:p>
        </p:txBody>
      </p:sp>
      <p:sp>
        <p:nvSpPr>
          <p:cNvPr id="14" name="Rounded Rectangle 13"/>
          <p:cNvSpPr/>
          <p:nvPr/>
        </p:nvSpPr>
        <p:spPr>
          <a:xfrm>
            <a:off x="8906256" y="1783080"/>
            <a:ext cx="2542032"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89136" y="2011680"/>
            <a:ext cx="594360" cy="594360"/>
          </a:xfrm>
          <a:prstGeom prst="roundRect">
            <a:avLst/>
          </a:prstGeom>
          <a:solidFill>
            <a:srgbClr val="EAF6FE"/>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6FBF"/>
                </a:solidFill>
                <a:latin typeface="Arial"/>
              </a:defRPr>
            </a:pPr>
            <a:r>
              <a:t>S4</a:t>
            </a:r>
          </a:p>
        </p:txBody>
      </p:sp>
      <p:sp>
        <p:nvSpPr>
          <p:cNvPr id="16" name="TextBox 15"/>
          <p:cNvSpPr txBox="1"/>
          <p:nvPr/>
        </p:nvSpPr>
        <p:spPr>
          <a:xfrm>
            <a:off x="9089136" y="2743200"/>
            <a:ext cx="2176272" cy="2651760"/>
          </a:xfrm>
          <a:prstGeom prst="rect">
            <a:avLst/>
          </a:prstGeom>
          <a:noFill/>
        </p:spPr>
        <p:txBody>
          <a:bodyPr wrap="square">
            <a:spAutoFit/>
          </a:bodyPr>
          <a:lstStyle/>
          <a:p>
            <a:pPr>
              <a:defRPr sz="1300" b="1">
                <a:solidFill>
                  <a:srgbClr val="0F172A"/>
                </a:solidFill>
                <a:latin typeface="Arial"/>
              </a:defRPr>
            </a:pPr>
            <a:r>
              <a:t>Stops Wrong Cream Misuse</a:t>
            </a:r>
          </a:p>
          <a:p>
            <a:pPr>
              <a:spcBef>
                <a:spcPts val="400"/>
              </a:spcBef>
              <a:spcAft>
                <a:spcPts val="800"/>
              </a:spcAft>
              <a:defRPr sz="950" b="1">
                <a:solidFill>
                  <a:srgbClr val="0F6FBF"/>
                </a:solidFill>
                <a:latin typeface="Arial"/>
              </a:defRPr>
            </a:pPr>
            <a:r>
              <a:t>Prevents Self-Harm</a:t>
            </a:r>
          </a:p>
          <a:p>
            <a:pPr>
              <a:defRPr sz="1100">
                <a:solidFill>
                  <a:srgbClr val="475569"/>
                </a:solidFill>
                <a:latin typeface="Calibri"/>
              </a:defRPr>
            </a:pPr>
            <a:r>
              <a:t>Explicitly warns against applying steroid creams to ringworm or fungal infections, preventing dangerous skin damage.</a:t>
            </a:r>
          </a:p>
        </p:txBody>
      </p:sp>
      <p:sp>
        <p:nvSpPr>
          <p:cNvPr id="17" name="Rounded Rectangle 16"/>
          <p:cNvSpPr/>
          <p:nvPr/>
        </p:nvSpPr>
        <p:spPr>
          <a:xfrm>
            <a:off x="731520" y="5806440"/>
            <a:ext cx="10728655" cy="594360"/>
          </a:xfrm>
          <a:prstGeom prst="roundRect">
            <a:avLst/>
          </a:prstGeom>
          <a:solidFill>
            <a:srgbClr val="F1F5F9"/>
          </a:solidFill>
          <a:ln>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Arial"/>
              </a:defRPr>
            </a:pPr>
            <a:r>
              <a:t>Golden Rule: DermoScan is a helpful guide. Never start prescription medicine without seeing a doctor first.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F6FBF"/>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0F172A"/>
                </a:solidFill>
                <a:latin typeface="Arial"/>
              </a:defRPr>
            </a:pPr>
            <a:r>
              <a:t>Problems We Faced and How We Solved Them</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475569"/>
                </a:solidFill>
                <a:latin typeface="Calibri"/>
              </a:defRPr>
            </a:pPr>
            <a:r>
              <a:t>Every real project faces challenges. Here is how we tackled each one simply and smartly.</a:t>
            </a:r>
          </a:p>
        </p:txBody>
      </p:sp>
      <p:sp>
        <p:nvSpPr>
          <p:cNvPr id="5" name="Rounded Rectangle 4"/>
          <p:cNvSpPr/>
          <p:nvPr/>
        </p:nvSpPr>
        <p:spPr>
          <a:xfrm>
            <a:off x="731520" y="1783080"/>
            <a:ext cx="5212080" cy="20574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92808"/>
            <a:ext cx="4846320" cy="1828800"/>
          </a:xfrm>
          <a:prstGeom prst="rect">
            <a:avLst/>
          </a:prstGeom>
          <a:noFill/>
        </p:spPr>
        <p:txBody>
          <a:bodyPr wrap="square">
            <a:spAutoFit/>
          </a:bodyPr>
          <a:lstStyle/>
          <a:p>
            <a:pPr>
              <a:defRPr sz="1150" b="1">
                <a:solidFill>
                  <a:srgbClr val="0F172A"/>
                </a:solidFill>
                <a:latin typeface="Arial"/>
              </a:defRPr>
            </a:pPr>
            <a:r>
              <a:t>Challenge 1: Big phone photos were too slow to upload</a:t>
            </a:r>
          </a:p>
          <a:p>
            <a:pPr>
              <a:spcBef>
                <a:spcPts val="200"/>
              </a:spcBef>
              <a:spcAft>
                <a:spcPts val="400"/>
              </a:spcAft>
              <a:defRPr sz="1000">
                <a:solidFill>
                  <a:srgbClr val="475569"/>
                </a:solidFill>
                <a:latin typeface="Calibri"/>
              </a:defRPr>
            </a:pPr>
            <a:r>
              <a:t>Modern smartphones take 15MB photos. Uploading them on slow mobile connections took forever and caused errors.</a:t>
            </a:r>
          </a:p>
          <a:p>
            <a:pPr>
              <a:defRPr sz="1050" b="1">
                <a:solidFill>
                  <a:srgbClr val="0F6FBF"/>
                </a:solidFill>
                <a:latin typeface="Arial"/>
              </a:defRPr>
            </a:pPr>
            <a:r>
              <a:t>Solution: Auto-Resize Inside Browser</a:t>
            </a:r>
          </a:p>
          <a:p>
            <a:pPr>
              <a:spcBef>
                <a:spcPts val="200"/>
              </a:spcBef>
              <a:defRPr sz="1000">
                <a:solidFill>
                  <a:srgbClr val="0F172A"/>
                </a:solidFill>
                <a:latin typeface="Calibri"/>
              </a:defRPr>
            </a:pPr>
            <a:r>
              <a:t>We added browser-based resizing that shrinks the photo to a lightweight size in milliseconds before sending.</a:t>
            </a:r>
          </a:p>
        </p:txBody>
      </p:sp>
      <p:sp>
        <p:nvSpPr>
          <p:cNvPr id="7" name="Rounded Rectangle 6"/>
          <p:cNvSpPr/>
          <p:nvPr/>
        </p:nvSpPr>
        <p:spPr>
          <a:xfrm>
            <a:off x="6217920" y="1783080"/>
            <a:ext cx="5212080" cy="20574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92808"/>
            <a:ext cx="4846320" cy="1828800"/>
          </a:xfrm>
          <a:prstGeom prst="rect">
            <a:avLst/>
          </a:prstGeom>
          <a:noFill/>
        </p:spPr>
        <p:txBody>
          <a:bodyPr wrap="square">
            <a:spAutoFit/>
          </a:bodyPr>
          <a:lstStyle/>
          <a:p>
            <a:pPr>
              <a:defRPr sz="1150" b="1">
                <a:solidFill>
                  <a:srgbClr val="0F172A"/>
                </a:solidFill>
                <a:latin typeface="Arial"/>
              </a:defRPr>
            </a:pPr>
            <a:r>
              <a:t>Challenge 2: Red warning meters scare patients</a:t>
            </a:r>
          </a:p>
          <a:p>
            <a:pPr>
              <a:spcBef>
                <a:spcPts val="200"/>
              </a:spcBef>
              <a:spcAft>
                <a:spcPts val="400"/>
              </a:spcAft>
              <a:defRPr sz="1000">
                <a:solidFill>
                  <a:srgbClr val="475569"/>
                </a:solidFill>
                <a:latin typeface="Calibri"/>
              </a:defRPr>
            </a:pPr>
            <a:r>
              <a:t>Traditional healthcare apps use bright red, yellow, and green meters that make users panic unnecessarily.</a:t>
            </a:r>
          </a:p>
          <a:p>
            <a:pPr>
              <a:defRPr sz="1050" b="1">
                <a:solidFill>
                  <a:srgbClr val="0F6FBF"/>
                </a:solidFill>
                <a:latin typeface="Arial"/>
              </a:defRPr>
            </a:pPr>
            <a:r>
              <a:t>Solution: Calm Medical Blue Theme</a:t>
            </a:r>
          </a:p>
          <a:p>
            <a:pPr>
              <a:spcBef>
                <a:spcPts val="200"/>
              </a:spcBef>
              <a:defRPr sz="1000">
                <a:solidFill>
                  <a:srgbClr val="0F172A"/>
                </a:solidFill>
                <a:latin typeface="Calibri"/>
              </a:defRPr>
            </a:pPr>
            <a:r>
              <a:t>We switched to a clean, calm medical blue (#0F6FBF) palette that shows facts clearly without causing alarm.</a:t>
            </a:r>
          </a:p>
        </p:txBody>
      </p:sp>
      <p:sp>
        <p:nvSpPr>
          <p:cNvPr id="9" name="Rounded Rectangle 8"/>
          <p:cNvSpPr/>
          <p:nvPr/>
        </p:nvSpPr>
        <p:spPr>
          <a:xfrm>
            <a:off x="731520" y="4114800"/>
            <a:ext cx="5212080" cy="20574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24528"/>
            <a:ext cx="4846320" cy="1828800"/>
          </a:xfrm>
          <a:prstGeom prst="rect">
            <a:avLst/>
          </a:prstGeom>
          <a:noFill/>
        </p:spPr>
        <p:txBody>
          <a:bodyPr wrap="square">
            <a:spAutoFit/>
          </a:bodyPr>
          <a:lstStyle/>
          <a:p>
            <a:pPr>
              <a:defRPr sz="1150" b="1">
                <a:solidFill>
                  <a:srgbClr val="0F172A"/>
                </a:solidFill>
                <a:latin typeface="Arial"/>
              </a:defRPr>
            </a:pPr>
            <a:r>
              <a:t>Challenge 3: AI models sometimes return messy text</a:t>
            </a:r>
          </a:p>
          <a:p>
            <a:pPr>
              <a:spcBef>
                <a:spcPts val="200"/>
              </a:spcBef>
              <a:spcAft>
                <a:spcPts val="400"/>
              </a:spcAft>
              <a:defRPr sz="1000">
                <a:solidFill>
                  <a:srgbClr val="475569"/>
                </a:solidFill>
                <a:latin typeface="Calibri"/>
              </a:defRPr>
            </a:pPr>
            <a:r>
              <a:t>AI models sometimes add extra symbols or unpredictable wording instead of clean structured answers.</a:t>
            </a:r>
          </a:p>
          <a:p>
            <a:pPr>
              <a:defRPr sz="1050" b="1">
                <a:solidFill>
                  <a:srgbClr val="0F6FBF"/>
                </a:solidFill>
                <a:latin typeface="Arial"/>
              </a:defRPr>
            </a:pPr>
            <a:r>
              <a:t>Solution: Smart Text Cleaning Filters</a:t>
            </a:r>
          </a:p>
          <a:p>
            <a:pPr>
              <a:spcBef>
                <a:spcPts val="200"/>
              </a:spcBef>
              <a:defRPr sz="1000">
                <a:solidFill>
                  <a:srgbClr val="0F172A"/>
                </a:solidFill>
                <a:latin typeface="Calibri"/>
              </a:defRPr>
            </a:pPr>
            <a:r>
              <a:t>We wrote automated filters that clean the AI answer and format it neatly into the exact same boxes every time.</a:t>
            </a:r>
          </a:p>
        </p:txBody>
      </p:sp>
      <p:sp>
        <p:nvSpPr>
          <p:cNvPr id="11" name="Rounded Rectangle 10"/>
          <p:cNvSpPr/>
          <p:nvPr/>
        </p:nvSpPr>
        <p:spPr>
          <a:xfrm>
            <a:off x="6217920" y="4114800"/>
            <a:ext cx="5212080" cy="20574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24528"/>
            <a:ext cx="4846320" cy="1828800"/>
          </a:xfrm>
          <a:prstGeom prst="rect">
            <a:avLst/>
          </a:prstGeom>
          <a:noFill/>
        </p:spPr>
        <p:txBody>
          <a:bodyPr wrap="square">
            <a:spAutoFit/>
          </a:bodyPr>
          <a:lstStyle/>
          <a:p>
            <a:pPr>
              <a:defRPr sz="1150" b="1">
                <a:solidFill>
                  <a:srgbClr val="0F172A"/>
                </a:solidFill>
                <a:latin typeface="Arial"/>
              </a:defRPr>
            </a:pPr>
            <a:r>
              <a:t>Challenge 4: Redness is hard to see on brown skin</a:t>
            </a:r>
          </a:p>
          <a:p>
            <a:pPr>
              <a:spcBef>
                <a:spcPts val="200"/>
              </a:spcBef>
              <a:spcAft>
                <a:spcPts val="400"/>
              </a:spcAft>
              <a:defRPr sz="1000">
                <a:solidFill>
                  <a:srgbClr val="475569"/>
                </a:solidFill>
                <a:latin typeface="Calibri"/>
              </a:defRPr>
            </a:pPr>
            <a:r>
              <a:t>Red skin rashes do not show up brightly on darker Indian and African skin tones, confusing visual-only AI.</a:t>
            </a:r>
          </a:p>
          <a:p>
            <a:pPr>
              <a:defRPr sz="1050" b="1">
                <a:solidFill>
                  <a:srgbClr val="0F6FBF"/>
                </a:solidFill>
                <a:latin typeface="Arial"/>
              </a:defRPr>
            </a:pPr>
            <a:r>
              <a:t>Solution: Asking Questions About Symptoms</a:t>
            </a:r>
          </a:p>
          <a:p>
            <a:pPr>
              <a:spcBef>
                <a:spcPts val="200"/>
              </a:spcBef>
              <a:defRPr sz="1000">
                <a:solidFill>
                  <a:srgbClr val="0F172A"/>
                </a:solidFill>
                <a:latin typeface="Calibri"/>
              </a:defRPr>
            </a:pPr>
            <a:r>
              <a:t>We asked patients where it is, how long they have had it, and how it feels, so the AI doesn't rely on color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731520" y="365760"/>
            <a:ext cx="10698480" cy="292608"/>
          </a:xfrm>
          <a:prstGeom prst="rect">
            <a:avLst/>
          </a:prstGeom>
          <a:noFill/>
        </p:spPr>
        <p:txBody>
          <a:bodyPr wrap="square" lIns="0" rIns="0" tIns="0" bIns="0">
            <a:spAutoFit/>
          </a:bodyPr>
          <a:lstStyle/>
          <a:p>
            <a:pPr>
              <a:defRPr sz="950" b="1">
                <a:solidFill>
                  <a:srgbClr val="0EA5E9"/>
                </a:solidFill>
                <a:latin typeface="Arial"/>
              </a:defRPr>
            </a:pPr>
            <a:r>
              <a:t>DERMOSCAN AI ASSISTANT</a:t>
            </a:r>
          </a:p>
        </p:txBody>
      </p:sp>
      <p:sp>
        <p:nvSpPr>
          <p:cNvPr id="3" name="TextBox 2"/>
          <p:cNvSpPr txBox="1"/>
          <p:nvPr/>
        </p:nvSpPr>
        <p:spPr>
          <a:xfrm>
            <a:off x="731520" y="658368"/>
            <a:ext cx="10698480" cy="594360"/>
          </a:xfrm>
          <a:prstGeom prst="rect">
            <a:avLst/>
          </a:prstGeom>
          <a:noFill/>
        </p:spPr>
        <p:txBody>
          <a:bodyPr wrap="square" lIns="0" rIns="0" tIns="0" bIns="0">
            <a:spAutoFit/>
          </a:bodyPr>
          <a:lstStyle/>
          <a:p>
            <a:pPr>
              <a:defRPr sz="2200" b="1">
                <a:solidFill>
                  <a:srgbClr val="FFFFFF"/>
                </a:solidFill>
                <a:latin typeface="Arial"/>
              </a:defRPr>
            </a:pPr>
            <a:r>
              <a:t>What Comes Next &amp; Project Conclusion</a:t>
            </a:r>
          </a:p>
        </p:txBody>
      </p:sp>
      <p:sp>
        <p:nvSpPr>
          <p:cNvPr id="4" name="TextBox 3"/>
          <p:cNvSpPr txBox="1"/>
          <p:nvPr/>
        </p:nvSpPr>
        <p:spPr>
          <a:xfrm>
            <a:off x="731520" y="1234440"/>
            <a:ext cx="10698480" cy="411480"/>
          </a:xfrm>
          <a:prstGeom prst="rect">
            <a:avLst/>
          </a:prstGeom>
          <a:noFill/>
        </p:spPr>
        <p:txBody>
          <a:bodyPr wrap="square" lIns="0" rIns="0" tIns="0" bIns="0">
            <a:spAutoFit/>
          </a:bodyPr>
          <a:lstStyle/>
          <a:p>
            <a:pPr>
              <a:defRPr sz="1300">
                <a:solidFill>
                  <a:srgbClr val="94A3B8"/>
                </a:solidFill>
                <a:latin typeface="Calibri"/>
              </a:defRPr>
            </a:pPr>
            <a:r>
              <a:t>Future improvements to make skin checks accessible to everyone across India.</a:t>
            </a:r>
          </a:p>
        </p:txBody>
      </p:sp>
      <p:sp>
        <p:nvSpPr>
          <p:cNvPr id="5" name="Rounded Rectangle 4"/>
          <p:cNvSpPr/>
          <p:nvPr/>
        </p:nvSpPr>
        <p:spPr>
          <a:xfrm>
            <a:off x="731520" y="1783080"/>
            <a:ext cx="3429000" cy="1051560"/>
          </a:xfrm>
          <a:prstGeom prst="roundRect">
            <a:avLst/>
          </a:prstGeom>
          <a:solidFill>
            <a:srgbClr val="112644"/>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EA5E9"/>
                </a:solidFill>
                <a:latin typeface="Arial"/>
              </a:defRPr>
            </a:pPr>
            <a:r>
              <a:t>Offline Mobile App</a:t>
            </a:r>
          </a:p>
          <a:p>
            <a:pPr>
              <a:spcBef>
                <a:spcPts val="200"/>
              </a:spcBef>
              <a:defRPr sz="950">
                <a:solidFill>
                  <a:srgbClr val="94A3B8"/>
                </a:solidFill>
                <a:latin typeface="Calibri"/>
              </a:defRPr>
            </a:pPr>
            <a:r>
              <a:t>A lightweight phone app that works completely offline without any internet connection.</a:t>
            </a:r>
          </a:p>
        </p:txBody>
      </p:sp>
      <p:sp>
        <p:nvSpPr>
          <p:cNvPr id="6" name="Rounded Rectangle 5"/>
          <p:cNvSpPr/>
          <p:nvPr/>
        </p:nvSpPr>
        <p:spPr>
          <a:xfrm>
            <a:off x="4379976" y="1783080"/>
            <a:ext cx="3429000" cy="1051560"/>
          </a:xfrm>
          <a:prstGeom prst="roundRect">
            <a:avLst/>
          </a:prstGeom>
          <a:solidFill>
            <a:srgbClr val="112644"/>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EA5E9"/>
                </a:solidFill>
                <a:latin typeface="Arial"/>
              </a:defRPr>
            </a:pPr>
            <a:r>
              <a:t>Better Indian Skin Calibration</a:t>
            </a:r>
          </a:p>
          <a:p>
            <a:pPr>
              <a:spcBef>
                <a:spcPts val="200"/>
              </a:spcBef>
              <a:defRPr sz="950">
                <a:solidFill>
                  <a:srgbClr val="94A3B8"/>
                </a:solidFill>
                <a:latin typeface="Calibri"/>
              </a:defRPr>
            </a:pPr>
            <a:r>
              <a:t>Special color tuning to better detect rashes on brown and deeper skin tones.</a:t>
            </a:r>
          </a:p>
        </p:txBody>
      </p:sp>
      <p:sp>
        <p:nvSpPr>
          <p:cNvPr id="7" name="Rounded Rectangle 6"/>
          <p:cNvSpPr/>
          <p:nvPr/>
        </p:nvSpPr>
        <p:spPr>
          <a:xfrm>
            <a:off x="8028431" y="1783080"/>
            <a:ext cx="3429000" cy="1051560"/>
          </a:xfrm>
          <a:prstGeom prst="roundRect">
            <a:avLst/>
          </a:prstGeom>
          <a:solidFill>
            <a:srgbClr val="112644"/>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EA5E9"/>
                </a:solidFill>
                <a:latin typeface="Arial"/>
              </a:defRPr>
            </a:pPr>
            <a:r>
              <a:t>Direct Hospital PDF Export</a:t>
            </a:r>
          </a:p>
          <a:p>
            <a:pPr>
              <a:spcBef>
                <a:spcPts val="200"/>
              </a:spcBef>
              <a:defRPr sz="950">
                <a:solidFill>
                  <a:srgbClr val="94A3B8"/>
                </a:solidFill>
                <a:latin typeface="Calibri"/>
              </a:defRPr>
            </a:pPr>
            <a:r>
              <a:t>Download a 1-page PDF summary to show directly to your clinic or family doctor.</a:t>
            </a:r>
          </a:p>
        </p:txBody>
      </p:sp>
      <p:sp>
        <p:nvSpPr>
          <p:cNvPr id="8" name="Rounded Rectangle 7"/>
          <p:cNvSpPr/>
          <p:nvPr/>
        </p:nvSpPr>
        <p:spPr>
          <a:xfrm>
            <a:off x="731520" y="2971800"/>
            <a:ext cx="3429000" cy="1051560"/>
          </a:xfrm>
          <a:prstGeom prst="roundRect">
            <a:avLst/>
          </a:prstGeom>
          <a:solidFill>
            <a:srgbClr val="112644"/>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EA5E9"/>
                </a:solidFill>
                <a:latin typeface="Arial"/>
              </a:defRPr>
            </a:pPr>
            <a:r>
              <a:t>Pocket Lens Support</a:t>
            </a:r>
          </a:p>
          <a:p>
            <a:pPr>
              <a:spcBef>
                <a:spcPts val="200"/>
              </a:spcBef>
              <a:defRPr sz="950">
                <a:solidFill>
                  <a:srgbClr val="94A3B8"/>
                </a:solidFill>
                <a:latin typeface="Calibri"/>
              </a:defRPr>
            </a:pPr>
            <a:r>
              <a:t>Support for low-cost dermatoscope magnifying lenses attached to phone cameras.</a:t>
            </a:r>
          </a:p>
        </p:txBody>
      </p:sp>
      <p:sp>
        <p:nvSpPr>
          <p:cNvPr id="9" name="Rounded Rectangle 8"/>
          <p:cNvSpPr/>
          <p:nvPr/>
        </p:nvSpPr>
        <p:spPr>
          <a:xfrm>
            <a:off x="4379976" y="2971800"/>
            <a:ext cx="3429000" cy="1051560"/>
          </a:xfrm>
          <a:prstGeom prst="roundRect">
            <a:avLst/>
          </a:prstGeom>
          <a:solidFill>
            <a:srgbClr val="112644"/>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EA5E9"/>
                </a:solidFill>
                <a:latin typeface="Arial"/>
              </a:defRPr>
            </a:pPr>
            <a:r>
              <a:t>Indian Regional Languages</a:t>
            </a:r>
          </a:p>
          <a:p>
            <a:pPr>
              <a:spcBef>
                <a:spcPts val="200"/>
              </a:spcBef>
              <a:defRPr sz="950">
                <a:solidFill>
                  <a:srgbClr val="94A3B8"/>
                </a:solidFill>
                <a:latin typeface="Calibri"/>
              </a:defRPr>
            </a:pPr>
            <a:r>
              <a:t>Add support for Hindi, Telugu, Punjabi, and other regional languages.</a:t>
            </a:r>
          </a:p>
        </p:txBody>
      </p:sp>
      <p:sp>
        <p:nvSpPr>
          <p:cNvPr id="10" name="Rounded Rectangle 9"/>
          <p:cNvSpPr/>
          <p:nvPr/>
        </p:nvSpPr>
        <p:spPr>
          <a:xfrm>
            <a:off x="8028431" y="2971800"/>
            <a:ext cx="3429000" cy="1051560"/>
          </a:xfrm>
          <a:prstGeom prst="roundRect">
            <a:avLst/>
          </a:prstGeom>
          <a:solidFill>
            <a:srgbClr val="112644"/>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defRPr sz="1100" b="1">
                <a:solidFill>
                  <a:srgbClr val="0EA5E9"/>
                </a:solidFill>
                <a:latin typeface="Arial"/>
              </a:defRPr>
            </a:pPr>
            <a:r>
              <a:t>1-Click Doctor Consultation</a:t>
            </a:r>
          </a:p>
          <a:p>
            <a:pPr>
              <a:spcBef>
                <a:spcPts val="200"/>
              </a:spcBef>
              <a:defRPr sz="950">
                <a:solidFill>
                  <a:srgbClr val="94A3B8"/>
                </a:solidFill>
                <a:latin typeface="Calibri"/>
              </a:defRPr>
            </a:pPr>
            <a:r>
              <a:t>An easy button to connect with an on-call skin specialist if you need a quick chat.</a:t>
            </a:r>
          </a:p>
        </p:txBody>
      </p:sp>
      <p:sp>
        <p:nvSpPr>
          <p:cNvPr id="11" name="Rounded Rectangle 10"/>
          <p:cNvSpPr/>
          <p:nvPr/>
        </p:nvSpPr>
        <p:spPr>
          <a:xfrm>
            <a:off x="731520" y="4297680"/>
            <a:ext cx="10728655" cy="2011680"/>
          </a:xfrm>
          <a:prstGeom prst="roundRect">
            <a:avLst/>
          </a:prstGeom>
          <a:solidFill>
            <a:srgbClr val="112644"/>
          </a:solidFill>
          <a:ln w="19050">
            <a:solidFill>
              <a:srgbClr val="0F6FBF"/>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800" b="1">
                <a:solidFill>
                  <a:srgbClr val="FFFFFF"/>
                </a:solidFill>
                <a:latin typeface="Arial"/>
              </a:defRPr>
            </a:pPr>
            <a:r>
              <a:t>Thank You! — DermoScan Smart Skin Check Assistant</a:t>
            </a:r>
          </a:p>
          <a:p>
            <a:pPr>
              <a:spcBef>
                <a:spcPts val="600"/>
              </a:spcBef>
              <a:defRPr sz="1100" b="1">
                <a:solidFill>
                  <a:srgbClr val="0EA5E9"/>
                </a:solidFill>
                <a:latin typeface="Arial"/>
              </a:defRPr>
            </a:pPr>
            <a:r>
              <a:t>• Try Live App: https://dermo-scan-nesn.vercel.app/    |    • Code on GitHub: https://github.com/vijayesh26/Dermo-Scan-</a:t>
            </a:r>
          </a:p>
          <a:p>
            <a:pPr>
              <a:spcBef>
                <a:spcPts val="400"/>
              </a:spcBef>
              <a:defRPr sz="1100" b="1">
                <a:solidFill>
                  <a:srgbClr val="FFFFFF"/>
                </a:solidFill>
                <a:latin typeface="Calibri"/>
              </a:defRPr>
            </a:pPr>
            <a:r>
              <a:t>Developed by Bhumireddy.Vijayesh Vardhan Reddy (Roll No: 72312924)  •  B.Tech CSE (AI &amp; DS)</a:t>
            </a:r>
          </a:p>
          <a:p>
            <a:pPr>
              <a:spcBef>
                <a:spcPts val="200"/>
              </a:spcBef>
              <a:defRPr sz="1000">
                <a:solidFill>
                  <a:srgbClr val="94A3B8"/>
                </a:solidFill>
                <a:latin typeface="Calibri"/>
              </a:defRPr>
            </a:pPr>
            <a:r>
              <a:t>Department of Computer Science &amp; Engineering, CT University, Ludhiana  |  Data Valley Pvt. Ltd.</a:t>
            </a:r>
          </a:p>
          <a:p>
            <a:pPr>
              <a:spcBef>
                <a:spcPts val="400"/>
              </a:spcBef>
              <a:defRPr sz="950" i="1">
                <a:solidFill>
                  <a:srgbClr val="94A3B8"/>
                </a:solidFill>
                <a:latin typeface="Calibri"/>
              </a:defRPr>
            </a:pPr>
            <a:r>
              <a:t>Academic Notice: DermoScan is an educational and guidance assistant. Always see a certified doctor for real skin treatments.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